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411480"/>
            <a:ext cx="9601200" cy="411480"/>
          </a:xfrm>
          <a:prstGeom prst="rect">
            <a:avLst/>
          </a:prstGeom>
          <a:noFill/>
        </p:spPr>
        <p:txBody>
          <a:bodyPr wrap="none">
            <a:spAutoFit/>
          </a:bodyPr>
          <a:lstStyle/>
          <a:p>
            <a:pPr>
              <a:defRPr b="1" sz="1600">
                <a:solidFill>
                  <a:srgbClr val="E6B85C"/>
                </a:solidFill>
                <a:latin typeface="Aptos Display"/>
              </a:defRPr>
            </a:pPr>
            <a:r>
              <a:t>ELITE FIELD EXECUTION TRAINING</a:t>
            </a:r>
          </a:p>
        </p:txBody>
      </p:sp>
      <p:sp>
        <p:nvSpPr>
          <p:cNvPr id="6" name="TextBox 5"/>
          <p:cNvSpPr txBox="1"/>
          <p:nvPr/>
        </p:nvSpPr>
        <p:spPr>
          <a:xfrm>
            <a:off x="822960" y="1170432"/>
            <a:ext cx="10698480" cy="2194560"/>
          </a:xfrm>
          <a:prstGeom prst="rect">
            <a:avLst/>
          </a:prstGeom>
          <a:noFill/>
        </p:spPr>
        <p:txBody>
          <a:bodyPr wrap="none" anchor="t">
            <a:spAutoFit/>
          </a:bodyPr>
          <a:lstStyle/>
          <a:p>
            <a:pPr>
              <a:defRPr b="1" sz="4400">
                <a:solidFill>
                  <a:srgbClr val="F2F7FF"/>
                </a:solidFill>
                <a:latin typeface="Aptos Display"/>
              </a:defRPr>
            </a:pPr>
            <a:r>
              <a:t>Elite Appointment Setter Pitch Booklet</a:t>
            </a:r>
          </a:p>
        </p:txBody>
      </p:sp>
      <p:sp>
        <p:nvSpPr>
          <p:cNvPr id="7" name="TextBox 6"/>
          <p:cNvSpPr txBox="1"/>
          <p:nvPr/>
        </p:nvSpPr>
        <p:spPr>
          <a:xfrm>
            <a:off x="868680" y="3474720"/>
            <a:ext cx="10149840" cy="1097280"/>
          </a:xfrm>
          <a:prstGeom prst="rect">
            <a:avLst/>
          </a:prstGeom>
          <a:noFill/>
        </p:spPr>
        <p:txBody>
          <a:bodyPr wrap="none">
            <a:spAutoFit/>
          </a:bodyPr>
          <a:lstStyle/>
          <a:p>
            <a:pPr>
              <a:defRPr sz="2000">
                <a:solidFill>
                  <a:srgbClr val="A4B4D2"/>
                </a:solidFill>
                <a:latin typeface="Aptos"/>
              </a:defRPr>
            </a:pPr>
            <a:r>
              <a:t>Door-to-Door Savings and Net Metering Pitch Execution Guide</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9875520" cy="731520"/>
          </a:xfrm>
          <a:prstGeom prst="rect">
            <a:avLst/>
          </a:prstGeom>
          <a:noFill/>
        </p:spPr>
        <p:txBody>
          <a:bodyPr wrap="none">
            <a:spAutoFit/>
          </a:bodyPr>
          <a:lstStyle/>
          <a:p>
            <a:pPr>
              <a:defRPr b="1" sz="3100">
                <a:solidFill>
                  <a:srgbClr val="F2F7FF"/>
                </a:solidFill>
                <a:latin typeface="Aptos Display"/>
              </a:defRPr>
            </a:pPr>
            <a:r>
              <a:t>Training Roadmap</a:t>
            </a:r>
          </a:p>
        </p:txBody>
      </p:sp>
      <p:sp>
        <p:nvSpPr>
          <p:cNvPr id="6" name="Rounded Rectangle 5"/>
          <p:cNvSpPr/>
          <p:nvPr/>
        </p:nvSpPr>
        <p:spPr>
          <a:xfrm>
            <a:off x="777240" y="1216152"/>
            <a:ext cx="10287000" cy="4709160"/>
          </a:xfrm>
          <a:prstGeom prst="roundRect">
            <a:avLst/>
          </a:prstGeom>
          <a:solidFill>
            <a:srgbClr val="13213A"/>
          </a:solidFill>
          <a:ln w="15240">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90472"/>
            <a:ext cx="9646920" cy="4160520"/>
          </a:xfrm>
          <a:prstGeom prst="rect">
            <a:avLst/>
          </a:prstGeom>
          <a:noFill/>
        </p:spPr>
        <p:txBody>
          <a:bodyPr wrap="square">
            <a:spAutoFit/>
          </a:bodyPr>
          <a:lstStyle/>
          <a:p/>
        </p:txBody>
      </p:sp>
      <p:sp>
        <p:nvSpPr>
          <p:cNvPr id="8" name="TextBox 7"/>
          <p:cNvSpPr txBox="1"/>
          <p:nvPr/>
        </p:nvSpPr>
        <p:spPr>
          <a:xfrm>
            <a:off x="1051560" y="1490472"/>
            <a:ext cx="4617720" cy="4160520"/>
          </a:xfrm>
          <a:prstGeom prst="rect">
            <a:avLst/>
          </a:prstGeom>
          <a:noFill/>
        </p:spPr>
        <p:txBody>
          <a:bodyPr wrap="none">
            <a:spAutoFit/>
          </a:bodyPr>
          <a:lstStyle/>
          <a:p>
            <a:pPr>
              <a:spcAft>
                <a:spcPts val="700"/>
              </a:spcAft>
              <a:defRPr sz="1500">
                <a:solidFill>
                  <a:srgbClr val="F2F7FF"/>
                </a:solidFill>
                <a:latin typeface="Aptos"/>
              </a:defRPr>
            </a:pPr>
            <a:r>
              <a:t>1. Door-to-Door Savings and Net Metering Pitch Execution Guide</a:t>
            </a:r>
          </a:p>
          <a:p>
            <a:pPr>
              <a:spcAft>
                <a:spcPts val="700"/>
              </a:spcAft>
              <a:defRPr sz="1500">
                <a:solidFill>
                  <a:srgbClr val="F2F7FF"/>
                </a:solidFill>
                <a:latin typeface="Aptos"/>
              </a:defRPr>
            </a:pPr>
            <a:r>
              <a:t>2. 1) Purpose of This Booklet</a:t>
            </a:r>
          </a:p>
          <a:p>
            <a:pPr>
              <a:spcAft>
                <a:spcPts val="700"/>
              </a:spcAft>
              <a:defRPr sz="1500">
                <a:solidFill>
                  <a:srgbClr val="F2F7FF"/>
                </a:solidFill>
                <a:latin typeface="Aptos"/>
              </a:defRPr>
            </a:pPr>
            <a:r>
              <a:t>3. 2) The Five-Part Pitch Structure</a:t>
            </a:r>
          </a:p>
          <a:p>
            <a:pPr>
              <a:spcAft>
                <a:spcPts val="700"/>
              </a:spcAft>
              <a:defRPr sz="1500">
                <a:solidFill>
                  <a:srgbClr val="F2F7FF"/>
                </a:solidFill>
                <a:latin typeface="Aptos"/>
              </a:defRPr>
            </a:pPr>
            <a:r>
              <a:t>4. 3) The Core Pitch</a:t>
            </a:r>
          </a:p>
          <a:p>
            <a:pPr>
              <a:spcAft>
                <a:spcPts val="700"/>
              </a:spcAft>
              <a:defRPr sz="1500">
                <a:solidFill>
                  <a:srgbClr val="F2F7FF"/>
                </a:solidFill>
                <a:latin typeface="Aptos"/>
              </a:defRPr>
            </a:pPr>
            <a:r>
              <a:t>5. 4) Intro: Lower the Guard Immediately</a:t>
            </a:r>
          </a:p>
          <a:p>
            <a:pPr>
              <a:spcAft>
                <a:spcPts val="700"/>
              </a:spcAft>
              <a:defRPr sz="1500">
                <a:solidFill>
                  <a:srgbClr val="F2F7FF"/>
                </a:solidFill>
                <a:latin typeface="Aptos"/>
              </a:defRPr>
            </a:pPr>
            <a:r>
              <a:t>6. 5) Problem: Make the Conversation Personal</a:t>
            </a:r>
          </a:p>
          <a:p>
            <a:pPr>
              <a:spcAft>
                <a:spcPts val="700"/>
              </a:spcAft>
              <a:defRPr sz="1500">
                <a:solidFill>
                  <a:srgbClr val="F2F7FF"/>
                </a:solidFill>
                <a:latin typeface="Aptos"/>
              </a:defRPr>
            </a:pPr>
            <a:r>
              <a:t>7. 6) Solution: Create Curiosity Without Overpromising</a:t>
            </a:r>
          </a:p>
          <a:p>
            <a:pPr>
              <a:spcAft>
                <a:spcPts val="700"/>
              </a:spcAft>
              <a:defRPr sz="1500">
                <a:solidFill>
                  <a:srgbClr val="F2F7FF"/>
                </a:solidFill>
                <a:latin typeface="Aptos"/>
              </a:defRPr>
            </a:pPr>
            <a:r>
              <a:t>8. 7) Take Away: Become Selective, Not Pushy</a:t>
            </a:r>
          </a:p>
          <a:p>
            <a:pPr>
              <a:spcAft>
                <a:spcPts val="700"/>
              </a:spcAft>
              <a:defRPr sz="1500">
                <a:solidFill>
                  <a:srgbClr val="F2F7FF"/>
                </a:solidFill>
                <a:latin typeface="Aptos"/>
              </a:defRPr>
            </a:pPr>
            <a:r>
              <a:t>9. 8) Close: Ask the Question That Moves the Pitch Forward</a:t>
            </a:r>
          </a:p>
        </p:txBody>
      </p:sp>
      <p:sp>
        <p:nvSpPr>
          <p:cNvPr id="9" name="TextBox 8"/>
          <p:cNvSpPr txBox="1"/>
          <p:nvPr/>
        </p:nvSpPr>
        <p:spPr>
          <a:xfrm>
            <a:off x="5833872" y="1490472"/>
            <a:ext cx="4617720" cy="4160520"/>
          </a:xfrm>
          <a:prstGeom prst="rect">
            <a:avLst/>
          </a:prstGeom>
          <a:noFill/>
        </p:spPr>
        <p:txBody>
          <a:bodyPr wrap="none">
            <a:spAutoFit/>
          </a:bodyPr>
          <a:lstStyle/>
          <a:p>
            <a:pPr>
              <a:spcAft>
                <a:spcPts val="700"/>
              </a:spcAft>
              <a:defRPr sz="1500">
                <a:solidFill>
                  <a:srgbClr val="F2F7FF"/>
                </a:solidFill>
                <a:latin typeface="Aptos"/>
              </a:defRPr>
            </a:pPr>
            <a:r>
              <a:t>10. 9) Full Pitch With Natural Delivery</a:t>
            </a:r>
          </a:p>
          <a:p>
            <a:pPr>
              <a:spcAft>
                <a:spcPts val="700"/>
              </a:spcAft>
              <a:defRPr sz="1500">
                <a:solidFill>
                  <a:srgbClr val="F2F7FF"/>
                </a:solidFill>
                <a:latin typeface="Aptos"/>
              </a:defRPr>
            </a:pPr>
            <a:r>
              <a:t>11. 10) Tonality: Why Your Tone Changes the Outcome</a:t>
            </a:r>
          </a:p>
          <a:p>
            <a:pPr>
              <a:spcAft>
                <a:spcPts val="700"/>
              </a:spcAft>
              <a:defRPr sz="1500">
                <a:solidFill>
                  <a:srgbClr val="F2F7FF"/>
                </a:solidFill>
                <a:latin typeface="Aptos"/>
              </a:defRPr>
            </a:pPr>
            <a:r>
              <a:t>12. Good tones and why they work</a:t>
            </a:r>
          </a:p>
          <a:p>
            <a:pPr>
              <a:spcAft>
                <a:spcPts val="700"/>
              </a:spcAft>
              <a:defRPr sz="1500">
                <a:solidFill>
                  <a:srgbClr val="F2F7FF"/>
                </a:solidFill>
                <a:latin typeface="Aptos"/>
              </a:defRPr>
            </a:pPr>
            <a:r>
              <a:t>13. 11) Body Language: Professional Presence at the Door</a:t>
            </a:r>
          </a:p>
          <a:p>
            <a:pPr>
              <a:spcAft>
                <a:spcPts val="700"/>
              </a:spcAft>
              <a:defRPr sz="1500">
                <a:solidFill>
                  <a:srgbClr val="F2F7FF"/>
                </a:solidFill>
                <a:latin typeface="Aptos"/>
              </a:defRPr>
            </a:pPr>
            <a:r>
              <a:t>14. Positioning</a:t>
            </a:r>
          </a:p>
          <a:p>
            <a:pPr>
              <a:spcAft>
                <a:spcPts val="700"/>
              </a:spcAft>
              <a:defRPr sz="1500">
                <a:solidFill>
                  <a:srgbClr val="F2F7FF"/>
                </a:solidFill>
                <a:latin typeface="Aptos"/>
              </a:defRPr>
            </a:pPr>
            <a:r>
              <a:t>15. Eye contact</a:t>
            </a:r>
          </a:p>
          <a:p>
            <a:pPr>
              <a:spcAft>
                <a:spcPts val="700"/>
              </a:spcAft>
              <a:defRPr sz="1500">
                <a:solidFill>
                  <a:srgbClr val="F2F7FF"/>
                </a:solidFill>
                <a:latin typeface="Aptos"/>
              </a:defRPr>
            </a:pPr>
            <a:r>
              <a:t>16. Hands and gestures</a:t>
            </a:r>
          </a:p>
          <a:p>
            <a:pPr>
              <a:spcAft>
                <a:spcPts val="700"/>
              </a:spcAft>
              <a:defRPr sz="1500">
                <a:solidFill>
                  <a:srgbClr val="F2F7FF"/>
                </a:solidFill>
                <a:latin typeface="Aptos"/>
              </a:defRPr>
            </a:pPr>
            <a:r>
              <a:t>17. Facial expression</a:t>
            </a:r>
          </a:p>
          <a:p>
            <a:pPr>
              <a:spcAft>
                <a:spcPts val="700"/>
              </a:spcAft>
              <a:defRPr sz="1500">
                <a:solidFill>
                  <a:srgbClr val="F2F7FF"/>
                </a:solidFill>
                <a:latin typeface="Aptos"/>
              </a:defRPr>
            </a:pPr>
            <a:r>
              <a:t>18. 12) Pacing: Control the Speed of the Conversation</a:t>
            </a:r>
          </a:p>
        </p:txBody>
      </p:sp>
      <p:sp>
        <p:nvSpPr>
          <p:cNvPr id="10" name="TextBox 9"/>
          <p:cNvSpPr txBox="1"/>
          <p:nvPr/>
        </p:nvSpPr>
        <p:spPr>
          <a:xfrm>
            <a:off x="1051560" y="5623560"/>
            <a:ext cx="8686800" cy="274320"/>
          </a:xfrm>
          <a:prstGeom prst="rect">
            <a:avLst/>
          </a:prstGeom>
          <a:noFill/>
        </p:spPr>
        <p:txBody>
          <a:bodyPr wrap="none">
            <a:spAutoFit/>
          </a:bodyPr>
          <a:lstStyle/>
          <a:p>
            <a:pPr>
              <a:defRPr sz="1000">
                <a:solidFill>
                  <a:srgbClr val="A4B4D2"/>
                </a:solidFill>
                <a:latin typeface="Aptos"/>
              </a:defRPr>
            </a:pPr>
            <a:r>
              <a:t>Deck continues with additional subsections in detailed flow.</a:t>
            </a:r>
          </a:p>
        </p:txBody>
      </p:sp>
      <p:sp>
        <p:nvSpPr>
          <p:cNvPr id="11" name="TextBox 10"/>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1) Purpose of This Booklet</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This booklet is focused on one thing: helping appointment setters pitch better at the door.</a:t>
            </a:r>
          </a:p>
          <a:p>
            <a:pPr algn="l">
              <a:spcAft>
                <a:spcPts val="400"/>
              </a:spcAft>
            </a:pPr>
          </a:p>
          <a:p>
            <a:pPr algn="l">
              <a:spcAft>
                <a:spcPts val="400"/>
              </a:spcAft>
              <a:defRPr sz="1400">
                <a:solidFill>
                  <a:srgbClr val="F2F7FF"/>
                </a:solidFill>
                <a:latin typeface="Aptos"/>
              </a:defRPr>
            </a:pPr>
            <a:r>
              <a:t>It is a practical guide for improving the actual conversation with the homeowner.</a:t>
            </a:r>
          </a:p>
          <a:p>
            <a:pPr algn="l">
              <a:spcAft>
                <a:spcPts val="400"/>
              </a:spcAft>
            </a:pPr>
          </a:p>
          <a:p>
            <a:pPr algn="l">
              <a:spcAft>
                <a:spcPts val="400"/>
              </a:spcAft>
              <a:defRPr sz="1400">
                <a:solidFill>
                  <a:srgbClr val="F2F7FF"/>
                </a:solidFill>
                <a:latin typeface="Aptos"/>
              </a:defRPr>
            </a:pPr>
            <a:r>
              <a:t>The goal is to help setters:</a:t>
            </a:r>
          </a:p>
          <a:p>
            <a:pPr algn="l">
              <a:spcAft>
                <a:spcPts val="400"/>
              </a:spcAft>
              <a:defRPr sz="1400">
                <a:solidFill>
                  <a:srgbClr val="F2F7FF"/>
                </a:solidFill>
                <a:latin typeface="Aptos"/>
              </a:defRPr>
            </a:pPr>
            <a:r>
              <a:t>• Sound more human and professional.</a:t>
            </a: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 Understand why each part of the pitch exists.</a:t>
            </a:r>
          </a:p>
          <a:p>
            <a:pPr algn="l">
              <a:spcAft>
                <a:spcPts val="400"/>
              </a:spcAft>
              <a:defRPr sz="1400">
                <a:solidFill>
                  <a:srgbClr val="F2F7FF"/>
                </a:solidFill>
                <a:latin typeface="Aptos"/>
              </a:defRPr>
            </a:pPr>
            <a:r>
              <a:t>• Lower the homeowner's guard quickly.</a:t>
            </a:r>
          </a:p>
          <a:p>
            <a:pPr algn="l">
              <a:spcAft>
                <a:spcPts val="400"/>
              </a:spcAft>
              <a:defRPr sz="1400">
                <a:solidFill>
                  <a:srgbClr val="F2F7FF"/>
                </a:solidFill>
                <a:latin typeface="Aptos"/>
              </a:defRPr>
            </a:pPr>
            <a:r>
              <a:t>• Create rapport without wasting time.</a:t>
            </a:r>
          </a:p>
          <a:p>
            <a:pPr algn="l">
              <a:spcAft>
                <a:spcPts val="400"/>
              </a:spcAft>
              <a:defRPr sz="1400">
                <a:solidFill>
                  <a:srgbClr val="F2F7FF"/>
                </a:solidFill>
                <a:latin typeface="Aptos"/>
              </a:defRPr>
            </a:pPr>
            <a:r>
              <a:t>• Guide the conversation with confidence.</a:t>
            </a:r>
          </a:p>
          <a:p>
            <a:pPr algn="l">
              <a:spcAft>
                <a:spcPts val="400"/>
              </a:spcAft>
              <a:defRPr sz="1400">
                <a:solidFill>
                  <a:srgbClr val="F2F7FF"/>
                </a:solidFill>
                <a:latin typeface="Aptos"/>
              </a:defRPr>
            </a:pPr>
            <a:r>
              <a:t>• Set better appointments through better communication.</a:t>
            </a:r>
          </a:p>
          <a:p>
            <a:pPr algn="l">
              <a:spcAft>
                <a:spcPts val="400"/>
              </a:spcAft>
            </a:pPr>
          </a:p>
          <a:p>
            <a:pPr algn="l">
              <a:spcAft>
                <a:spcPts val="400"/>
              </a:spcAft>
              <a:defRPr sz="1400">
                <a:solidFill>
                  <a:srgbClr val="F2F7FF"/>
                </a:solidFill>
                <a:latin typeface="Aptos"/>
              </a:defRPr>
            </a:pPr>
            <a:r>
              <a:t>Great appointment setters do not just memorize words. They understand the structure behind the words and deliver them with the right tone, body language, pacing, and diction.</a:t>
            </a: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2) The Five-Part Pitch Structure</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Every strong door pitch has five parts:</a:t>
            </a:r>
          </a:p>
          <a:p>
            <a:pPr algn="l">
              <a:spcAft>
                <a:spcPts val="400"/>
              </a:spcAft>
            </a:pPr>
          </a:p>
          <a:p>
            <a:pPr algn="l">
              <a:spcAft>
                <a:spcPts val="400"/>
              </a:spcAft>
              <a:defRPr sz="1400">
                <a:solidFill>
                  <a:srgbClr val="F2F7FF"/>
                </a:solidFill>
                <a:latin typeface="Aptos"/>
              </a:defRPr>
            </a:pPr>
            <a:r>
              <a:t>1. Intro - Lower the homeowner's guard and create a reason for the conversation.</a:t>
            </a:r>
          </a:p>
          <a:p>
            <a:pPr algn="l">
              <a:spcAft>
                <a:spcPts val="400"/>
              </a:spcAft>
              <a:defRPr sz="1400">
                <a:solidFill>
                  <a:srgbClr val="F2F7FF"/>
                </a:solidFill>
                <a:latin typeface="Aptos"/>
              </a:defRPr>
            </a:pPr>
            <a:r>
              <a:t>2. Problem - Connect the local situation to a real homeowner pain point.</a:t>
            </a:r>
          </a:p>
          <a:p>
            <a:pPr algn="l">
              <a:spcAft>
                <a:spcPts val="400"/>
              </a:spcAft>
              <a:defRPr sz="1400">
                <a:solidFill>
                  <a:srgbClr val="F2F7FF"/>
                </a:solidFill>
                <a:latin typeface="Aptos"/>
              </a:defRPr>
            </a:pPr>
            <a:r>
              <a:t>3. Solution - Show the homeowner there may be a better option.</a:t>
            </a:r>
          </a:p>
          <a:p>
            <a:pPr algn="l">
              <a:spcAft>
                <a:spcPts val="400"/>
              </a:spcAft>
              <a:defRPr sz="1400">
                <a:solidFill>
                  <a:srgbClr val="F2F7FF"/>
                </a:solidFill>
                <a:latin typeface="Aptos"/>
              </a:defRPr>
            </a:pPr>
            <a:r>
              <a:t>4. Take Away - Disqualify respectfully so the conversation feels selective, not pushy.</a:t>
            </a:r>
          </a:p>
          <a:p>
            <a:pPr algn="l">
              <a:spcAft>
                <a:spcPts val="400"/>
              </a:spcAft>
              <a:defRPr sz="1400">
                <a:solidFill>
                  <a:srgbClr val="F2F7FF"/>
                </a:solidFill>
                <a:latin typeface="Aptos"/>
              </a:defRPr>
            </a:pPr>
            <a:r>
              <a:t>5. Close - Ask for the next step clearly and confidently.</a:t>
            </a:r>
          </a:p>
          <a:p>
            <a:pPr algn="l">
              <a:spcAft>
                <a:spcPts val="400"/>
              </a:spcAft>
            </a:pP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This structure matters because homeowners do not respond well to random information. They respond when the conversation feels:</a:t>
            </a:r>
          </a:p>
          <a:p>
            <a:pPr algn="l">
              <a:spcAft>
                <a:spcPts val="400"/>
              </a:spcAft>
              <a:defRPr sz="1400">
                <a:solidFill>
                  <a:srgbClr val="F2F7FF"/>
                </a:solidFill>
                <a:latin typeface="Aptos"/>
              </a:defRPr>
            </a:pPr>
            <a:r>
              <a:t>• Relevant</a:t>
            </a:r>
          </a:p>
          <a:p>
            <a:pPr algn="l">
              <a:spcAft>
                <a:spcPts val="400"/>
              </a:spcAft>
              <a:defRPr sz="1400">
                <a:solidFill>
                  <a:srgbClr val="F2F7FF"/>
                </a:solidFill>
                <a:latin typeface="Aptos"/>
              </a:defRPr>
            </a:pPr>
            <a:r>
              <a:t>• Short</a:t>
            </a:r>
          </a:p>
          <a:p>
            <a:pPr algn="l">
              <a:spcAft>
                <a:spcPts val="400"/>
              </a:spcAft>
              <a:defRPr sz="1400">
                <a:solidFill>
                  <a:srgbClr val="F2F7FF"/>
                </a:solidFill>
                <a:latin typeface="Aptos"/>
              </a:defRPr>
            </a:pPr>
            <a:r>
              <a:t>• Local</a:t>
            </a:r>
          </a:p>
          <a:p>
            <a:pPr algn="l">
              <a:spcAft>
                <a:spcPts val="400"/>
              </a:spcAft>
              <a:defRPr sz="1400">
                <a:solidFill>
                  <a:srgbClr val="F2F7FF"/>
                </a:solidFill>
                <a:latin typeface="Aptos"/>
              </a:defRPr>
            </a:pPr>
            <a:r>
              <a:t>• Personal</a:t>
            </a:r>
          </a:p>
          <a:p>
            <a:pPr algn="l">
              <a:spcAft>
                <a:spcPts val="400"/>
              </a:spcAft>
              <a:defRPr sz="1400">
                <a:solidFill>
                  <a:srgbClr val="F2F7FF"/>
                </a:solidFill>
                <a:latin typeface="Aptos"/>
              </a:defRPr>
            </a:pPr>
            <a:r>
              <a:t>• Low pressure</a:t>
            </a:r>
          </a:p>
          <a:p>
            <a:pPr algn="l">
              <a:spcAft>
                <a:spcPts val="400"/>
              </a:spcAft>
              <a:defRPr sz="1400">
                <a:solidFill>
                  <a:srgbClr val="F2F7FF"/>
                </a:solidFill>
                <a:latin typeface="Aptos"/>
              </a:defRPr>
            </a:pPr>
            <a:r>
              <a:t>• Worth their attention</a:t>
            </a:r>
          </a:p>
          <a:p>
            <a:pPr algn="l">
              <a:spcAft>
                <a:spcPts val="400"/>
              </a:spcAft>
            </a:pPr>
          </a:p>
          <a:p>
            <a:pPr algn="l">
              <a:spcAft>
                <a:spcPts val="400"/>
              </a:spcAft>
              <a:defRPr sz="1400">
                <a:solidFill>
                  <a:srgbClr val="F2F7FF"/>
                </a:solidFill>
                <a:latin typeface="Aptos"/>
              </a:defRPr>
            </a:pPr>
            <a:r>
              <a:t>If you skip the structure, the pitch sounds like a memorized sales script. If you understand the structure, the pitch sounds like a professional conversation.</a:t>
            </a: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3) The Core Pitch (1/2)</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Use this pitch as the foundation:</a:t>
            </a:r>
          </a:p>
          <a:p>
            <a:pPr algn="l">
              <a:spcAft>
                <a:spcPts val="400"/>
              </a:spcAft>
            </a:pPr>
          </a:p>
          <a:p>
            <a:pPr algn="l">
              <a:spcAft>
                <a:spcPts val="600"/>
              </a:spcAft>
              <a:defRPr b="1" sz="1500">
                <a:solidFill>
                  <a:srgbClr val="E6B85C"/>
                </a:solidFill>
                <a:latin typeface="Aptos"/>
              </a:defRPr>
            </a:pPr>
            <a:r>
              <a:t>Intro</a:t>
            </a:r>
          </a:p>
          <a:p>
            <a:pPr algn="l">
              <a:spcAft>
                <a:spcPts val="400"/>
              </a:spcAft>
              <a:defRPr sz="1400">
                <a:solidFill>
                  <a:srgbClr val="F2F7FF"/>
                </a:solidFill>
                <a:latin typeface="Aptos"/>
              </a:defRPr>
            </a:pPr>
            <a:r>
              <a:t>"Hey listen, I don't have much time. Do you see these powerlines here?"</a:t>
            </a:r>
          </a:p>
          <a:p>
            <a:pPr algn="l">
              <a:spcAft>
                <a:spcPts val="400"/>
              </a:spcAft>
            </a:pPr>
          </a:p>
          <a:p>
            <a:pPr algn="l">
              <a:spcAft>
                <a:spcPts val="400"/>
              </a:spcAft>
              <a:defRPr sz="1400">
                <a:solidFill>
                  <a:srgbClr val="F2F7FF"/>
                </a:solidFill>
                <a:latin typeface="Aptos"/>
              </a:defRPr>
            </a:pPr>
            <a:r>
              <a:t>*(Point naturally at the powerlines or local utility infrastructure.)*</a:t>
            </a:r>
          </a:p>
          <a:p>
            <a:pPr algn="l">
              <a:spcAft>
                <a:spcPts val="400"/>
              </a:spcAft>
            </a:pPr>
          </a:p>
          <a:p>
            <a:pPr algn="l">
              <a:spcAft>
                <a:spcPts val="400"/>
              </a:spcAft>
              <a:defRPr sz="1400">
                <a:solidFill>
                  <a:srgbClr val="F2F7FF"/>
                </a:solidFill>
                <a:latin typeface="Aptos"/>
              </a:defRPr>
            </a:pPr>
            <a:r>
              <a:t>"They are all going underground because most people lost power during the storms. That way if something catastrophic happens, we'll still have power. Does that make sense?"</a:t>
            </a:r>
          </a:p>
          <a:p>
            <a:pPr algn="l">
              <a:spcAft>
                <a:spcPts val="400"/>
              </a:spcAft>
            </a:pPr>
          </a:p>
          <a:p>
            <a:pPr algn="l">
              <a:spcAft>
                <a:spcPts val="600"/>
              </a:spcAft>
              <a:defRPr b="1" sz="1500">
                <a:solidFill>
                  <a:srgbClr val="E6B85C"/>
                </a:solidFill>
                <a:latin typeface="Aptos"/>
              </a:defRPr>
            </a:pPr>
            <a:r>
              <a:t>Problem</a:t>
            </a:r>
          </a:p>
          <a:p>
            <a:pPr algn="l">
              <a:spcAft>
                <a:spcPts val="400"/>
              </a:spcAft>
              <a:defRPr sz="1400">
                <a:solidFill>
                  <a:srgbClr val="F2F7FF"/>
                </a:solidFill>
                <a:latin typeface="Aptos"/>
              </a:defRPr>
            </a:pPr>
            <a:r>
              <a:t>"Duke is increasing rates to pay for all that infrastructure. No one is happy about paying more money for the same amount of power."</a:t>
            </a:r>
          </a:p>
          <a:p>
            <a:pPr algn="l">
              <a:spcAft>
                <a:spcPts val="400"/>
              </a:spcAft>
            </a:pP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600"/>
              </a:spcAft>
              <a:defRPr b="1" sz="1500">
                <a:solidFill>
                  <a:srgbClr val="E6B85C"/>
                </a:solidFill>
                <a:latin typeface="Aptos"/>
              </a:defRPr>
            </a:pPr>
            <a:r>
              <a:t>Solution</a:t>
            </a:r>
          </a:p>
          <a:p>
            <a:pPr algn="l">
              <a:spcAft>
                <a:spcPts val="400"/>
              </a:spcAft>
              <a:defRPr sz="1400">
                <a:solidFill>
                  <a:srgbClr val="F2F7FF"/>
                </a:solidFill>
                <a:latin typeface="Aptos"/>
              </a:defRPr>
            </a:pPr>
            <a:r>
              <a:t>"If we can get you all the power you're currently using from Duke for significantly cheaper, we'll show you exactly what it looks like."</a:t>
            </a:r>
          </a:p>
          <a:p>
            <a:pPr algn="l">
              <a:spcAft>
                <a:spcPts val="400"/>
              </a:spcAft>
            </a:pPr>
          </a:p>
          <a:p>
            <a:pPr algn="l">
              <a:spcAft>
                <a:spcPts val="600"/>
              </a:spcAft>
              <a:defRPr b="1" sz="1500">
                <a:solidFill>
                  <a:srgbClr val="E6B85C"/>
                </a:solidFill>
                <a:latin typeface="Aptos"/>
              </a:defRPr>
            </a:pPr>
            <a:r>
              <a:t>Take Away</a:t>
            </a:r>
          </a:p>
          <a:p>
            <a:pPr algn="l">
              <a:spcAft>
                <a:spcPts val="400"/>
              </a:spcAft>
              <a:defRPr sz="1400">
                <a:solidFill>
                  <a:srgbClr val="F2F7FF"/>
                </a:solidFill>
                <a:latin typeface="Aptos"/>
              </a:defRPr>
            </a:pPr>
            <a:r>
              <a:t>"Most of your neighbors are only paying $35-$40, so we probably can't help them."</a:t>
            </a:r>
          </a:p>
          <a:p>
            <a:pPr algn="l">
              <a:spcAft>
                <a:spcPts val="400"/>
              </a:spcAft>
            </a:pP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3) The Core Pitch (2/2)</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600"/>
              </a:spcAft>
              <a:defRPr b="1" sz="1700">
                <a:solidFill>
                  <a:srgbClr val="E6B85C"/>
                </a:solidFill>
                <a:latin typeface="Aptos"/>
              </a:defRPr>
            </a:pPr>
            <a:r>
              <a:t>Close</a:t>
            </a:r>
          </a:p>
          <a:p>
            <a:pPr algn="l">
              <a:spcAft>
                <a:spcPts val="400"/>
              </a:spcAft>
              <a:defRPr sz="1600">
                <a:solidFill>
                  <a:srgbClr val="F2F7FF"/>
                </a:solidFill>
                <a:latin typeface="Aptos"/>
              </a:defRPr>
            </a:pPr>
            <a:r>
              <a:t>"What's the lowest your Duke bill gets?"</a:t>
            </a:r>
          </a:p>
          <a:p>
            <a:pPr algn="l">
              <a:spcAft>
                <a:spcPts val="400"/>
              </a:spcAft>
            </a:pPr>
          </a:p>
          <a:p>
            <a:pPr algn="l">
              <a:spcAft>
                <a:spcPts val="400"/>
              </a:spcAft>
              <a:defRPr sz="1600">
                <a:solidFill>
                  <a:srgbClr val="F2F7FF"/>
                </a:solidFill>
                <a:latin typeface="Aptos"/>
              </a:defRPr>
            </a:pPr>
            <a:r>
              <a:t>"If I can't even save you money and it ends up costing more, what are you going to tell me?"</a:t>
            </a:r>
          </a:p>
          <a:p>
            <a:pPr algn="l">
              <a:spcAft>
                <a:spcPts val="400"/>
              </a:spcAft>
            </a:pPr>
          </a:p>
          <a:p>
            <a:pPr algn="l">
              <a:spcAft>
                <a:spcPts val="400"/>
              </a:spcAft>
              <a:defRPr sz="1600">
                <a:solidFill>
                  <a:srgbClr val="F2F7FF"/>
                </a:solidFill>
                <a:latin typeface="Aptos"/>
              </a:defRPr>
            </a:pPr>
            <a:r>
              <a:t>"What I look at is the squiggly line on your bill. It tells me how much power you are pulling annually and lets me know if I can save you money. Do you get this online or paper?"</a:t>
            </a:r>
          </a:p>
          <a:p>
            <a:pPr algn="l">
              <a:spcAft>
                <a:spcPts val="400"/>
              </a:spcAft>
            </a:pPr>
          </a:p>
          <a:p>
            <a:pPr algn="l">
              <a:spcAft>
                <a:spcPts val="400"/>
              </a:spcAft>
              <a:defRPr sz="1600">
                <a:solidFill>
                  <a:srgbClr val="F2F7FF"/>
                </a:solidFill>
                <a:latin typeface="Aptos"/>
              </a:defRPr>
            </a:pPr>
            <a:r>
              <a:t>This is not meant to sound robotic. The structure should stay the same, but the delivery should feel like a real person talking to another real person.</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4) Intro: Lower the Guard Immediately (1/2)</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600"/>
              </a:spcAft>
              <a:defRPr b="1" sz="1500">
                <a:solidFill>
                  <a:srgbClr val="E6B85C"/>
                </a:solidFill>
                <a:latin typeface="Aptos"/>
              </a:defRPr>
            </a:pPr>
            <a:r>
              <a:t>Pitch lines</a:t>
            </a:r>
          </a:p>
          <a:p>
            <a:pPr algn="l">
              <a:spcAft>
                <a:spcPts val="400"/>
              </a:spcAft>
              <a:defRPr sz="1400">
                <a:solidFill>
                  <a:srgbClr val="F2F7FF"/>
                </a:solidFill>
                <a:latin typeface="Aptos"/>
              </a:defRPr>
            </a:pPr>
            <a:r>
              <a:t>"Hey listen, I don't have much time."</a:t>
            </a:r>
          </a:p>
          <a:p>
            <a:pPr algn="l">
              <a:spcAft>
                <a:spcPts val="400"/>
              </a:spcAft>
            </a:pPr>
          </a:p>
          <a:p>
            <a:pPr algn="l">
              <a:spcAft>
                <a:spcPts val="400"/>
              </a:spcAft>
              <a:defRPr sz="1400">
                <a:solidFill>
                  <a:srgbClr val="F2F7FF"/>
                </a:solidFill>
                <a:latin typeface="Aptos"/>
              </a:defRPr>
            </a:pPr>
            <a:r>
              <a:t>"Do you see these powerlines here?"</a:t>
            </a:r>
          </a:p>
          <a:p>
            <a:pPr algn="l">
              <a:spcAft>
                <a:spcPts val="400"/>
              </a:spcAft>
            </a:pPr>
          </a:p>
          <a:p>
            <a:pPr algn="l">
              <a:spcAft>
                <a:spcPts val="400"/>
              </a:spcAft>
              <a:defRPr sz="1400">
                <a:solidFill>
                  <a:srgbClr val="F2F7FF"/>
                </a:solidFill>
                <a:latin typeface="Aptos"/>
              </a:defRPr>
            </a:pPr>
            <a:r>
              <a:t>"They are all going underground because most people lost power during the storms. That way if something catastrophic happens, we'll still have power. Does that make sense?"</a:t>
            </a:r>
          </a:p>
          <a:p>
            <a:pPr algn="l">
              <a:spcAft>
                <a:spcPts val="400"/>
              </a:spcAft>
            </a:pPr>
          </a:p>
          <a:p>
            <a:pPr algn="l">
              <a:spcAft>
                <a:spcPts val="600"/>
              </a:spcAft>
              <a:defRPr b="1" sz="1500">
                <a:solidFill>
                  <a:srgbClr val="E6B85C"/>
                </a:solidFill>
                <a:latin typeface="Aptos"/>
              </a:defRPr>
            </a:pPr>
            <a:r>
              <a:t>What the Intro is supposed to do</a:t>
            </a:r>
          </a:p>
          <a:p>
            <a:pPr algn="l">
              <a:spcAft>
                <a:spcPts val="400"/>
              </a:spcAft>
              <a:defRPr sz="1400">
                <a:solidFill>
                  <a:srgbClr val="F2F7FF"/>
                </a:solidFill>
                <a:latin typeface="Aptos"/>
              </a:defRPr>
            </a:pPr>
            <a:r>
              <a:t>The Intro is not where you explain panels, equipment, or programs. The Intro is where you earn the right to keep talking.</a:t>
            </a:r>
          </a:p>
          <a:p>
            <a:pPr algn="l">
              <a:spcAft>
                <a:spcPts val="400"/>
              </a:spcAft>
            </a:pP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Most homeowners expect a door knocker to take too long, talk too much, and ask for something too soon. The Intro breaks that pattern.</a:t>
            </a:r>
          </a:p>
          <a:p>
            <a:pPr algn="l">
              <a:spcAft>
                <a:spcPts val="400"/>
              </a:spcAft>
            </a:pPr>
          </a:p>
          <a:p>
            <a:pPr algn="l">
              <a:spcAft>
                <a:spcPts val="600"/>
              </a:spcAft>
              <a:defRPr b="1" sz="1500">
                <a:solidFill>
                  <a:srgbClr val="E6B85C"/>
                </a:solidFill>
                <a:latin typeface="Aptos"/>
              </a:defRPr>
            </a:pPr>
            <a:r>
              <a:t>Why "I don't have much time" works</a:t>
            </a:r>
          </a:p>
          <a:p>
            <a:pPr algn="l">
              <a:spcAft>
                <a:spcPts val="400"/>
              </a:spcAft>
              <a:defRPr sz="1400">
                <a:solidFill>
                  <a:srgbClr val="F2F7FF"/>
                </a:solidFill>
                <a:latin typeface="Aptos"/>
              </a:defRPr>
            </a:pPr>
            <a:r>
              <a:t>This line creates a pressure release. Homeowners are used to salespeople asking for their time. When you say you do not have much time, it tells them:</a:t>
            </a:r>
          </a:p>
          <a:p>
            <a:pPr algn="l">
              <a:spcAft>
                <a:spcPts val="400"/>
              </a:spcAft>
              <a:defRPr sz="1400">
                <a:solidFill>
                  <a:srgbClr val="F2F7FF"/>
                </a:solidFill>
                <a:latin typeface="Aptos"/>
              </a:defRPr>
            </a:pPr>
            <a:r>
              <a:t>• This will be short.</a:t>
            </a:r>
          </a:p>
          <a:p>
            <a:pPr algn="l">
              <a:spcAft>
                <a:spcPts val="400"/>
              </a:spcAft>
              <a:defRPr sz="1400">
                <a:solidFill>
                  <a:srgbClr val="F2F7FF"/>
                </a:solidFill>
                <a:latin typeface="Aptos"/>
              </a:defRPr>
            </a:pPr>
            <a:r>
              <a:t>• You are not there to trap them.</a:t>
            </a:r>
          </a:p>
          <a:p>
            <a:pPr algn="l">
              <a:spcAft>
                <a:spcPts val="400"/>
              </a:spcAft>
              <a:defRPr sz="1400">
                <a:solidFill>
                  <a:srgbClr val="F2F7FF"/>
                </a:solidFill>
                <a:latin typeface="Aptos"/>
              </a:defRPr>
            </a:pPr>
            <a:r>
              <a:t>• You are not desperate for the conversation.</a:t>
            </a:r>
          </a:p>
          <a:p>
            <a:pPr algn="l">
              <a:spcAft>
                <a:spcPts val="400"/>
              </a:spcAft>
              <a:defRPr sz="1400">
                <a:solidFill>
                  <a:srgbClr val="F2F7FF"/>
                </a:solidFill>
                <a:latin typeface="Aptos"/>
              </a:defRPr>
            </a:pPr>
            <a:r>
              <a:t>• There is a specific reason you stopped.</a:t>
            </a:r>
          </a:p>
          <a:p>
            <a:pPr algn="l">
              <a:spcAft>
                <a:spcPts val="400"/>
              </a:spcAft>
            </a:pP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4) Intro: Lower the Guard Immediately (2/2)</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600"/>
              </a:spcAft>
              <a:defRPr b="1" sz="1500">
                <a:solidFill>
                  <a:srgbClr val="E6B85C"/>
                </a:solidFill>
                <a:latin typeface="Aptos"/>
              </a:defRPr>
            </a:pPr>
            <a:r>
              <a:t>The psychological effect</a:t>
            </a:r>
          </a:p>
          <a:p>
            <a:pPr algn="l">
              <a:spcAft>
                <a:spcPts val="400"/>
              </a:spcAft>
              <a:defRPr sz="1400">
                <a:solidFill>
                  <a:srgbClr val="F2F7FF"/>
                </a:solidFill>
                <a:latin typeface="Aptos"/>
              </a:defRPr>
            </a:pPr>
            <a:r>
              <a:t>The homeowner's guard drops because the conversation feels less like a pitch and more like a quick update. It also creates curiosity. They are more likely to listen because you are not immediately asking them for attention, money, or commitment.</a:t>
            </a:r>
          </a:p>
          <a:p>
            <a:pPr algn="l">
              <a:spcAft>
                <a:spcPts val="400"/>
              </a:spcAft>
            </a:pPr>
          </a:p>
          <a:p>
            <a:pPr algn="l">
              <a:spcAft>
                <a:spcPts val="600"/>
              </a:spcAft>
              <a:defRPr b="1" sz="1500">
                <a:solidFill>
                  <a:srgbClr val="E6B85C"/>
                </a:solidFill>
                <a:latin typeface="Aptos"/>
              </a:defRPr>
            </a:pPr>
            <a:r>
              <a:t>Why the powerline question works</a:t>
            </a:r>
          </a:p>
          <a:p>
            <a:pPr algn="l">
              <a:spcAft>
                <a:spcPts val="400"/>
              </a:spcAft>
              <a:defRPr sz="1400">
                <a:solidFill>
                  <a:srgbClr val="F2F7FF"/>
                </a:solidFill>
                <a:latin typeface="Aptos"/>
              </a:defRPr>
            </a:pPr>
            <a:r>
              <a:t>"Do you see these powerlines here?" gives the homeowner something simple to respond to. They do not have to decide anything. They only have to look and acknowledge.</a:t>
            </a:r>
          </a:p>
          <a:p>
            <a:pPr algn="l">
              <a:spcAft>
                <a:spcPts val="400"/>
              </a:spcAft>
            </a:pPr>
          </a:p>
          <a:p>
            <a:pPr algn="l">
              <a:spcAft>
                <a:spcPts val="400"/>
              </a:spcAft>
              <a:defRPr sz="1400">
                <a:solidFill>
                  <a:srgbClr val="F2F7FF"/>
                </a:solidFill>
                <a:latin typeface="Aptos"/>
              </a:defRPr>
            </a:pPr>
            <a:r>
              <a:t>That matters because the first response should be easy. Easy answers create movement. Movement creates control.</a:t>
            </a:r>
          </a:p>
          <a:p>
            <a:pPr algn="l">
              <a:spcAft>
                <a:spcPts val="400"/>
              </a:spcAft>
            </a:pPr>
          </a:p>
          <a:p>
            <a:pPr algn="l">
              <a:spcAft>
                <a:spcPts val="600"/>
              </a:spcAft>
              <a:defRPr b="1" sz="1500">
                <a:solidFill>
                  <a:srgbClr val="E6B85C"/>
                </a:solidFill>
                <a:latin typeface="Aptos"/>
              </a:defRPr>
            </a:pPr>
            <a:r>
              <a:t>What you want from the homeowner</a:t>
            </a: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You are looking for a small agreement:</a:t>
            </a:r>
          </a:p>
          <a:p>
            <a:pPr algn="l">
              <a:spcAft>
                <a:spcPts val="400"/>
              </a:spcAft>
              <a:defRPr sz="1400">
                <a:solidFill>
                  <a:srgbClr val="F2F7FF"/>
                </a:solidFill>
                <a:latin typeface="Aptos"/>
              </a:defRPr>
            </a:pPr>
            <a:r>
              <a:t>• "Yeah."</a:t>
            </a:r>
          </a:p>
          <a:p>
            <a:pPr algn="l">
              <a:spcAft>
                <a:spcPts val="400"/>
              </a:spcAft>
              <a:defRPr sz="1400">
                <a:solidFill>
                  <a:srgbClr val="F2F7FF"/>
                </a:solidFill>
                <a:latin typeface="Aptos"/>
              </a:defRPr>
            </a:pPr>
            <a:r>
              <a:t>• A nod.</a:t>
            </a:r>
          </a:p>
          <a:p>
            <a:pPr algn="l">
              <a:spcAft>
                <a:spcPts val="400"/>
              </a:spcAft>
              <a:defRPr sz="1400">
                <a:solidFill>
                  <a:srgbClr val="F2F7FF"/>
                </a:solidFill>
                <a:latin typeface="Aptos"/>
              </a:defRPr>
            </a:pPr>
            <a:r>
              <a:t>• Looking where you point.</a:t>
            </a:r>
          </a:p>
          <a:p>
            <a:pPr algn="l">
              <a:spcAft>
                <a:spcPts val="400"/>
              </a:spcAft>
              <a:defRPr sz="1400">
                <a:solidFill>
                  <a:srgbClr val="F2F7FF"/>
                </a:solidFill>
                <a:latin typeface="Aptos"/>
              </a:defRPr>
            </a:pPr>
            <a:r>
              <a:t>• Stepping slightly into the conversation.</a:t>
            </a:r>
          </a:p>
          <a:p>
            <a:pPr algn="l">
              <a:spcAft>
                <a:spcPts val="400"/>
              </a:spcAft>
            </a:pPr>
          </a:p>
          <a:p>
            <a:pPr algn="l">
              <a:spcAft>
                <a:spcPts val="400"/>
              </a:spcAft>
              <a:defRPr sz="1400">
                <a:solidFill>
                  <a:srgbClr val="F2F7FF"/>
                </a:solidFill>
                <a:latin typeface="Aptos"/>
              </a:defRPr>
            </a:pPr>
            <a:r>
              <a:t>That small agreement tells you they are engaged enough to continue.</a:t>
            </a:r>
          </a:p>
          <a:p>
            <a:pPr algn="l">
              <a:spcAft>
                <a:spcPts val="400"/>
              </a:spcAft>
            </a:pPr>
          </a:p>
          <a:p>
            <a:pPr algn="l">
              <a:spcAft>
                <a:spcPts val="600"/>
              </a:spcAft>
              <a:defRPr b="1" sz="1500">
                <a:solidFill>
                  <a:srgbClr val="E6B85C"/>
                </a:solidFill>
                <a:latin typeface="Aptos"/>
              </a:defRPr>
            </a:pPr>
            <a:r>
              <a:t>Professional delivery note</a:t>
            </a:r>
          </a:p>
          <a:p>
            <a:pPr algn="l">
              <a:spcAft>
                <a:spcPts val="400"/>
              </a:spcAft>
              <a:defRPr sz="1400">
                <a:solidFill>
                  <a:srgbClr val="F2F7FF"/>
                </a:solidFill>
                <a:latin typeface="Aptos"/>
              </a:defRPr>
            </a:pPr>
            <a:r>
              <a:t>Do not point aggressively. Do not wave your arm around. Make the gesture small and natural. Your body language should say, "Look at this real thing happening here," not "Watch me perform."</a:t>
            </a: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5) Problem: Make the Conversation Personal (1/3)</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600"/>
              </a:spcAft>
              <a:defRPr b="1" sz="1500">
                <a:solidFill>
                  <a:srgbClr val="E6B85C"/>
                </a:solidFill>
                <a:latin typeface="Aptos"/>
              </a:defRPr>
            </a:pPr>
            <a:r>
              <a:t>Pitch lines</a:t>
            </a:r>
          </a:p>
          <a:p>
            <a:pPr algn="l">
              <a:spcAft>
                <a:spcPts val="400"/>
              </a:spcAft>
              <a:defRPr sz="1400">
                <a:solidFill>
                  <a:srgbClr val="F2F7FF"/>
                </a:solidFill>
                <a:latin typeface="Aptos"/>
              </a:defRPr>
            </a:pPr>
            <a:r>
              <a:t>"Duke is increasing rates to pay for all that infrastructure."</a:t>
            </a:r>
          </a:p>
          <a:p>
            <a:pPr algn="l">
              <a:spcAft>
                <a:spcPts val="400"/>
              </a:spcAft>
            </a:pPr>
          </a:p>
          <a:p>
            <a:pPr algn="l">
              <a:spcAft>
                <a:spcPts val="400"/>
              </a:spcAft>
              <a:defRPr sz="1400">
                <a:solidFill>
                  <a:srgbClr val="F2F7FF"/>
                </a:solidFill>
                <a:latin typeface="Aptos"/>
              </a:defRPr>
            </a:pPr>
            <a:r>
              <a:t>"No one is happy about paying more money for the same amount of power."</a:t>
            </a:r>
          </a:p>
          <a:p>
            <a:pPr algn="l">
              <a:spcAft>
                <a:spcPts val="400"/>
              </a:spcAft>
            </a:pPr>
          </a:p>
          <a:p>
            <a:pPr algn="l">
              <a:spcAft>
                <a:spcPts val="600"/>
              </a:spcAft>
              <a:defRPr b="1" sz="1500">
                <a:solidFill>
                  <a:srgbClr val="E6B85C"/>
                </a:solidFill>
                <a:latin typeface="Aptos"/>
              </a:defRPr>
            </a:pPr>
            <a:r>
              <a:t>What the Problem is supposed to do</a:t>
            </a:r>
          </a:p>
          <a:p>
            <a:pPr algn="l">
              <a:spcAft>
                <a:spcPts val="400"/>
              </a:spcAft>
              <a:defRPr sz="1400">
                <a:solidFill>
                  <a:srgbClr val="F2F7FF"/>
                </a:solidFill>
                <a:latin typeface="Aptos"/>
              </a:defRPr>
            </a:pPr>
            <a:r>
              <a:t>The Problem connects the local infrastructure conversation to the homeowner's monthly bill.</a:t>
            </a:r>
          </a:p>
          <a:p>
            <a:pPr algn="l">
              <a:spcAft>
                <a:spcPts val="400"/>
              </a:spcAft>
            </a:pPr>
          </a:p>
          <a:p>
            <a:pPr algn="l">
              <a:spcAft>
                <a:spcPts val="400"/>
              </a:spcAft>
              <a:defRPr sz="1400">
                <a:solidFill>
                  <a:srgbClr val="F2F7FF"/>
                </a:solidFill>
                <a:latin typeface="Aptos"/>
              </a:defRPr>
            </a:pPr>
            <a:r>
              <a:t>Without the Problem, the homeowner may think:</a:t>
            </a:r>
          </a:p>
          <a:p>
            <a:pPr algn="l">
              <a:spcAft>
                <a:spcPts val="400"/>
              </a:spcAft>
            </a:pP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&gt; "Okay, powerlines are going underground. Why are you telling me this?"</a:t>
            </a:r>
          </a:p>
          <a:p>
            <a:pPr algn="l">
              <a:spcAft>
                <a:spcPts val="400"/>
              </a:spcAft>
            </a:pPr>
          </a:p>
          <a:p>
            <a:pPr algn="l">
              <a:spcAft>
                <a:spcPts val="400"/>
              </a:spcAft>
              <a:defRPr sz="1400">
                <a:solidFill>
                  <a:srgbClr val="F2F7FF"/>
                </a:solidFill>
                <a:latin typeface="Aptos"/>
              </a:defRPr>
            </a:pPr>
            <a:r>
              <a:t>The Problem answers that question.</a:t>
            </a:r>
          </a:p>
          <a:p>
            <a:pPr algn="l">
              <a:spcAft>
                <a:spcPts val="400"/>
              </a:spcAft>
            </a:pPr>
          </a:p>
          <a:p>
            <a:pPr algn="l">
              <a:spcAft>
                <a:spcPts val="600"/>
              </a:spcAft>
              <a:defRPr b="1" sz="1500">
                <a:solidFill>
                  <a:srgbClr val="E6B85C"/>
                </a:solidFill>
                <a:latin typeface="Aptos"/>
              </a:defRPr>
            </a:pPr>
            <a:r>
              <a:t>Why this works</a:t>
            </a:r>
          </a:p>
          <a:p>
            <a:pPr algn="l">
              <a:spcAft>
                <a:spcPts val="400"/>
              </a:spcAft>
              <a:defRPr sz="1400">
                <a:solidFill>
                  <a:srgbClr val="F2F7FF"/>
                </a:solidFill>
                <a:latin typeface="Aptos"/>
              </a:defRPr>
            </a:pPr>
            <a:r>
              <a:t>Most homeowners understand frustration around utility bills. You do not need to convince them that rate increases are annoying. They already know.</a:t>
            </a:r>
          </a:p>
          <a:p>
            <a:pPr algn="l">
              <a:spcAft>
                <a:spcPts val="400"/>
              </a:spcAft>
            </a:pPr>
          </a:p>
          <a:p>
            <a:pPr algn="l">
              <a:spcAft>
                <a:spcPts val="400"/>
              </a:spcAft>
              <a:defRPr sz="1400">
                <a:solidFill>
                  <a:srgbClr val="F2F7FF"/>
                </a:solidFill>
                <a:latin typeface="Aptos"/>
              </a:defRPr>
            </a:pPr>
            <a:r>
              <a:t>The key is to make the problem feel simple:</a:t>
            </a:r>
          </a:p>
          <a:p>
            <a:pPr algn="l">
              <a:spcAft>
                <a:spcPts val="400"/>
              </a:spcAft>
              <a:defRPr sz="1400">
                <a:solidFill>
                  <a:srgbClr val="F2F7FF"/>
                </a:solidFill>
                <a:latin typeface="Aptos"/>
              </a:defRPr>
            </a:pPr>
            <a:r>
              <a:t>• Infrastructure costs money.</a:t>
            </a: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5) Problem: Make the Conversation Personal (2/3)</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 Duke raises rates to cover those costs.</a:t>
            </a:r>
          </a:p>
          <a:p>
            <a:pPr algn="l">
              <a:spcAft>
                <a:spcPts val="400"/>
              </a:spcAft>
              <a:defRPr sz="1400">
                <a:solidFill>
                  <a:srgbClr val="F2F7FF"/>
                </a:solidFill>
                <a:latin typeface="Aptos"/>
              </a:defRPr>
            </a:pPr>
            <a:r>
              <a:t>• The homeowner pays more.</a:t>
            </a:r>
          </a:p>
          <a:p>
            <a:pPr algn="l">
              <a:spcAft>
                <a:spcPts val="400"/>
              </a:spcAft>
              <a:defRPr sz="1400">
                <a:solidFill>
                  <a:srgbClr val="F2F7FF"/>
                </a:solidFill>
                <a:latin typeface="Aptos"/>
              </a:defRPr>
            </a:pPr>
            <a:r>
              <a:t>• They do not receive more power for that higher payment.</a:t>
            </a:r>
          </a:p>
          <a:p>
            <a:pPr algn="l">
              <a:spcAft>
                <a:spcPts val="400"/>
              </a:spcAft>
            </a:pPr>
          </a:p>
          <a:p>
            <a:pPr algn="l">
              <a:spcAft>
                <a:spcPts val="600"/>
              </a:spcAft>
              <a:defRPr b="1" sz="1500">
                <a:solidFill>
                  <a:srgbClr val="E6B85C"/>
                </a:solidFill>
                <a:latin typeface="Aptos"/>
              </a:defRPr>
            </a:pPr>
            <a:r>
              <a:t>The psychological effect</a:t>
            </a:r>
          </a:p>
          <a:p>
            <a:pPr algn="l">
              <a:spcAft>
                <a:spcPts val="400"/>
              </a:spcAft>
              <a:defRPr sz="1400">
                <a:solidFill>
                  <a:srgbClr val="F2F7FF"/>
                </a:solidFill>
                <a:latin typeface="Aptos"/>
              </a:defRPr>
            </a:pPr>
            <a:r>
              <a:t>This creates shared frustration. You are no longer just a person at the door. You are pointing out something the homeowner may already feel but has not fully connected.</a:t>
            </a:r>
          </a:p>
          <a:p>
            <a:pPr algn="l">
              <a:spcAft>
                <a:spcPts val="400"/>
              </a:spcAft>
            </a:pPr>
          </a:p>
          <a:p>
            <a:pPr algn="l">
              <a:spcAft>
                <a:spcPts val="400"/>
              </a:spcAft>
              <a:defRPr sz="1400">
                <a:solidFill>
                  <a:srgbClr val="F2F7FF"/>
                </a:solidFill>
                <a:latin typeface="Aptos"/>
              </a:defRPr>
            </a:pPr>
            <a:r>
              <a:t>The strongest emotional trigger is not "the program is great." The stronger trigger is:</a:t>
            </a:r>
          </a:p>
          <a:p>
            <a:pPr algn="l">
              <a:spcAft>
                <a:spcPts val="400"/>
              </a:spcAft>
            </a:pPr>
          </a:p>
          <a:p>
            <a:pPr algn="l">
              <a:spcAft>
                <a:spcPts val="400"/>
              </a:spcAft>
              <a:defRPr sz="1400">
                <a:solidFill>
                  <a:srgbClr val="F2F7FF"/>
                </a:solidFill>
                <a:latin typeface="Aptos"/>
              </a:defRPr>
            </a:pPr>
            <a:r>
              <a:t>&gt; "I am already paying more, and I do not like where this is going."</a:t>
            </a:r>
          </a:p>
          <a:p>
            <a:pPr algn="l">
              <a:spcAft>
                <a:spcPts val="400"/>
              </a:spcAft>
            </a:pP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600"/>
              </a:spcAft>
              <a:defRPr b="1" sz="1500">
                <a:solidFill>
                  <a:srgbClr val="E6B85C"/>
                </a:solidFill>
                <a:latin typeface="Aptos"/>
              </a:defRPr>
            </a:pPr>
            <a:r>
              <a:t>How to make it human</a:t>
            </a:r>
          </a:p>
          <a:p>
            <a:pPr algn="l">
              <a:spcAft>
                <a:spcPts val="400"/>
              </a:spcAft>
              <a:defRPr sz="1400">
                <a:solidFill>
                  <a:srgbClr val="F2F7FF"/>
                </a:solidFill>
                <a:latin typeface="Aptos"/>
              </a:defRPr>
            </a:pPr>
            <a:r>
              <a:t>After the problem line, watch their face. If they react, do not bulldoze into the next line.</a:t>
            </a:r>
          </a:p>
          <a:p>
            <a:pPr algn="l">
              <a:spcAft>
                <a:spcPts val="400"/>
              </a:spcAft>
            </a:pPr>
          </a:p>
          <a:p>
            <a:pPr algn="l">
              <a:spcAft>
                <a:spcPts val="400"/>
              </a:spcAft>
              <a:defRPr sz="1400">
                <a:solidFill>
                  <a:srgbClr val="F2F7FF"/>
                </a:solidFill>
                <a:latin typeface="Aptos"/>
              </a:defRPr>
            </a:pPr>
            <a:r>
              <a:t>If they say, "Yeah, my bill has been crazy," respond:</a:t>
            </a:r>
          </a:p>
          <a:p>
            <a:pPr algn="l">
              <a:spcAft>
                <a:spcPts val="400"/>
              </a:spcAft>
            </a:pPr>
          </a:p>
          <a:p>
            <a:pPr algn="l">
              <a:spcAft>
                <a:spcPts val="400"/>
              </a:spcAft>
              <a:defRPr sz="1400">
                <a:solidFill>
                  <a:srgbClr val="F2F7FF"/>
                </a:solidFill>
                <a:latin typeface="Aptos"/>
              </a:defRPr>
            </a:pPr>
            <a:r>
              <a:t>"That's exactly why I stopped. A lot of people here are saying the same thing."</a:t>
            </a:r>
          </a:p>
          <a:p>
            <a:pPr algn="l">
              <a:spcAft>
                <a:spcPts val="400"/>
              </a:spcAft>
            </a:pPr>
          </a:p>
          <a:p>
            <a:pPr algn="l">
              <a:spcAft>
                <a:spcPts val="400"/>
              </a:spcAft>
              <a:defRPr sz="1400">
                <a:solidFill>
                  <a:srgbClr val="F2F7FF"/>
                </a:solidFill>
                <a:latin typeface="Aptos"/>
              </a:defRPr>
            </a:pPr>
            <a:r>
              <a:t>Then continue.</a:t>
            </a: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5) Problem: Make the Conversation Personal (3/3)</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pPr>
          </a:p>
          <a:p>
            <a:pPr algn="l">
              <a:spcAft>
                <a:spcPts val="400"/>
              </a:spcAft>
              <a:defRPr sz="1600">
                <a:solidFill>
                  <a:srgbClr val="F2F7FF"/>
                </a:solidFill>
                <a:latin typeface="Aptos"/>
              </a:defRPr>
            </a:pPr>
            <a:r>
              <a:t>This is how you avoid sounding robotic. You still control the conversation, but you acknowledge the homeowner's response before moving forward.</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6) Solution: Create Curiosity Without Overpromising (1/3)</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600"/>
              </a:spcAft>
              <a:defRPr b="1" sz="1500">
                <a:solidFill>
                  <a:srgbClr val="E6B85C"/>
                </a:solidFill>
                <a:latin typeface="Aptos"/>
              </a:defRPr>
            </a:pPr>
            <a:r>
              <a:t>Pitch line</a:t>
            </a:r>
          </a:p>
          <a:p>
            <a:pPr algn="l">
              <a:spcAft>
                <a:spcPts val="400"/>
              </a:spcAft>
              <a:defRPr sz="1400">
                <a:solidFill>
                  <a:srgbClr val="F2F7FF"/>
                </a:solidFill>
                <a:latin typeface="Aptos"/>
              </a:defRPr>
            </a:pPr>
            <a:r>
              <a:t>"If we can get you all the power you're currently using from Duke for significantly cheaper, we'll show you exactly what it looks like."</a:t>
            </a:r>
          </a:p>
          <a:p>
            <a:pPr algn="l">
              <a:spcAft>
                <a:spcPts val="400"/>
              </a:spcAft>
            </a:pPr>
          </a:p>
          <a:p>
            <a:pPr algn="l">
              <a:spcAft>
                <a:spcPts val="600"/>
              </a:spcAft>
              <a:defRPr b="1" sz="1500">
                <a:solidFill>
                  <a:srgbClr val="E6B85C"/>
                </a:solidFill>
                <a:latin typeface="Aptos"/>
              </a:defRPr>
            </a:pPr>
            <a:r>
              <a:t>What the Solution is supposed to do</a:t>
            </a:r>
          </a:p>
          <a:p>
            <a:pPr algn="l">
              <a:spcAft>
                <a:spcPts val="400"/>
              </a:spcAft>
              <a:defRPr sz="1400">
                <a:solidFill>
                  <a:srgbClr val="F2F7FF"/>
                </a:solidFill>
                <a:latin typeface="Aptos"/>
              </a:defRPr>
            </a:pPr>
            <a:r>
              <a:t>The Solution introduces the possibility of a better option. It should not sound like a guaranteed promise or a hard sales claim.</a:t>
            </a:r>
          </a:p>
          <a:p>
            <a:pPr algn="l">
              <a:spcAft>
                <a:spcPts val="400"/>
              </a:spcAft>
            </a:pPr>
          </a:p>
          <a:p>
            <a:pPr algn="l">
              <a:spcAft>
                <a:spcPts val="400"/>
              </a:spcAft>
              <a:defRPr sz="1400">
                <a:solidFill>
                  <a:srgbClr val="F2F7FF"/>
                </a:solidFill>
                <a:latin typeface="Aptos"/>
              </a:defRPr>
            </a:pPr>
            <a:r>
              <a:t>The most important word is if.</a:t>
            </a:r>
          </a:p>
          <a:p>
            <a:pPr algn="l">
              <a:spcAft>
                <a:spcPts val="400"/>
              </a:spcAft>
            </a:pPr>
          </a:p>
          <a:p>
            <a:pPr algn="l">
              <a:spcAft>
                <a:spcPts val="400"/>
              </a:spcAft>
              <a:defRPr sz="1400">
                <a:solidFill>
                  <a:srgbClr val="F2F7FF"/>
                </a:solidFill>
                <a:latin typeface="Aptos"/>
              </a:defRPr>
            </a:pPr>
            <a:r>
              <a:t>"If" keeps the conversation honest. It tells the homeowner:</a:t>
            </a:r>
          </a:p>
          <a:p>
            <a:pPr algn="l">
              <a:spcAft>
                <a:spcPts val="400"/>
              </a:spcAft>
              <a:defRPr sz="1400">
                <a:solidFill>
                  <a:srgbClr val="F2F7FF"/>
                </a:solidFill>
                <a:latin typeface="Aptos"/>
              </a:defRPr>
            </a:pPr>
            <a:r>
              <a:t>• This may or may not work.</a:t>
            </a:r>
          </a:p>
          <a:p>
            <a:pPr algn="l">
              <a:spcAft>
                <a:spcPts val="400"/>
              </a:spcAft>
              <a:defRPr sz="1400">
                <a:solidFill>
                  <a:srgbClr val="F2F7FF"/>
                </a:solidFill>
                <a:latin typeface="Aptos"/>
              </a:defRPr>
            </a:pPr>
            <a:r>
              <a:t>• We need to look at your situation first.</a:t>
            </a:r>
          </a:p>
          <a:p>
            <a:pPr algn="l">
              <a:spcAft>
                <a:spcPts val="400"/>
              </a:spcAft>
              <a:defRPr sz="1400">
                <a:solidFill>
                  <a:srgbClr val="F2F7FF"/>
                </a:solidFill>
                <a:latin typeface="Aptos"/>
              </a:defRPr>
            </a:pPr>
            <a:r>
              <a:t>• You are not being pressured into a decision.</a:t>
            </a:r>
          </a:p>
          <a:p>
            <a:pPr algn="l">
              <a:spcAft>
                <a:spcPts val="400"/>
              </a:spcAft>
              <a:defRPr sz="1400">
                <a:solidFill>
                  <a:srgbClr val="F2F7FF"/>
                </a:solidFill>
                <a:latin typeface="Aptos"/>
              </a:defRPr>
            </a:pPr>
            <a:r>
              <a:t>• The next step is simply to see the numbers.</a:t>
            </a:r>
          </a:p>
          <a:p>
            <a:pPr algn="l">
              <a:spcAft>
                <a:spcPts val="400"/>
              </a:spcAft>
            </a:pP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600"/>
              </a:spcAft>
              <a:defRPr b="1" sz="1500">
                <a:solidFill>
                  <a:srgbClr val="E6B85C"/>
                </a:solidFill>
                <a:latin typeface="Aptos"/>
              </a:defRPr>
            </a:pPr>
            <a:r>
              <a:t>The psychological effect</a:t>
            </a:r>
          </a:p>
          <a:p>
            <a:pPr algn="l">
              <a:spcAft>
                <a:spcPts val="400"/>
              </a:spcAft>
              <a:defRPr sz="1400">
                <a:solidFill>
                  <a:srgbClr val="F2F7FF"/>
                </a:solidFill>
                <a:latin typeface="Aptos"/>
              </a:defRPr>
            </a:pPr>
            <a:r>
              <a:t>The homeowner becomes curious without feeling cornered. They do not have to agree to panels or a program at the door. They only have to be open to seeing whether the numbers make sense.</a:t>
            </a:r>
          </a:p>
          <a:p>
            <a:pPr algn="l">
              <a:spcAft>
                <a:spcPts val="400"/>
              </a:spcAft>
            </a:pPr>
          </a:p>
          <a:p>
            <a:pPr algn="l">
              <a:spcAft>
                <a:spcPts val="400"/>
              </a:spcAft>
              <a:defRPr sz="1400">
                <a:solidFill>
                  <a:srgbClr val="F2F7FF"/>
                </a:solidFill>
                <a:latin typeface="Aptos"/>
              </a:defRPr>
            </a:pPr>
            <a:r>
              <a:t>That is a much easier commitment.</a:t>
            </a:r>
          </a:p>
          <a:p>
            <a:pPr algn="l">
              <a:spcAft>
                <a:spcPts val="400"/>
              </a:spcAft>
            </a:pP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6) Solution: Create Curiosity Without Overpromising (2/3)</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600"/>
              </a:spcAft>
              <a:defRPr b="1" sz="1500">
                <a:solidFill>
                  <a:srgbClr val="E6B85C"/>
                </a:solidFill>
                <a:latin typeface="Aptos"/>
              </a:defRPr>
            </a:pPr>
            <a:r>
              <a:t>Professional wording notes</a:t>
            </a:r>
          </a:p>
          <a:p>
            <a:pPr algn="l">
              <a:spcAft>
                <a:spcPts val="400"/>
              </a:spcAft>
              <a:defRPr sz="1400">
                <a:solidFill>
                  <a:srgbClr val="F2F7FF"/>
                </a:solidFill>
                <a:latin typeface="Aptos"/>
              </a:defRPr>
            </a:pPr>
            <a:r>
              <a:t>Avoid phrases that sound exaggerated:</a:t>
            </a:r>
          </a:p>
          <a:p>
            <a:pPr algn="l">
              <a:spcAft>
                <a:spcPts val="400"/>
              </a:spcAft>
              <a:defRPr sz="1400">
                <a:solidFill>
                  <a:srgbClr val="F2F7FF"/>
                </a:solidFill>
                <a:latin typeface="Aptos"/>
              </a:defRPr>
            </a:pPr>
            <a:r>
              <a:t>• "We can save you a ton of money."</a:t>
            </a:r>
          </a:p>
          <a:p>
            <a:pPr algn="l">
              <a:spcAft>
                <a:spcPts val="400"/>
              </a:spcAft>
              <a:defRPr sz="1400">
                <a:solidFill>
                  <a:srgbClr val="F2F7FF"/>
                </a:solidFill>
                <a:latin typeface="Aptos"/>
              </a:defRPr>
            </a:pPr>
            <a:r>
              <a:t>• "This is a no-brainer."</a:t>
            </a:r>
          </a:p>
          <a:p>
            <a:pPr algn="l">
              <a:spcAft>
                <a:spcPts val="400"/>
              </a:spcAft>
              <a:defRPr sz="1400">
                <a:solidFill>
                  <a:srgbClr val="F2F7FF"/>
                </a:solidFill>
                <a:latin typeface="Aptos"/>
              </a:defRPr>
            </a:pPr>
            <a:r>
              <a:t>• "Everyone is switching."</a:t>
            </a:r>
          </a:p>
          <a:p>
            <a:pPr algn="l">
              <a:spcAft>
                <a:spcPts val="400"/>
              </a:spcAft>
              <a:defRPr sz="1400">
                <a:solidFill>
                  <a:srgbClr val="F2F7FF"/>
                </a:solidFill>
                <a:latin typeface="Aptos"/>
              </a:defRPr>
            </a:pPr>
            <a:r>
              <a:t>• "You would be crazy not to look at this."</a:t>
            </a:r>
          </a:p>
          <a:p>
            <a:pPr algn="l">
              <a:spcAft>
                <a:spcPts val="400"/>
              </a:spcAft>
            </a:pPr>
          </a:p>
          <a:p>
            <a:pPr algn="l">
              <a:spcAft>
                <a:spcPts val="400"/>
              </a:spcAft>
              <a:defRPr sz="1400">
                <a:solidFill>
                  <a:srgbClr val="F2F7FF"/>
                </a:solidFill>
                <a:latin typeface="Aptos"/>
              </a:defRPr>
            </a:pPr>
            <a:r>
              <a:t>Use professional fit-check language:</a:t>
            </a:r>
          </a:p>
          <a:p>
            <a:pPr algn="l">
              <a:spcAft>
                <a:spcPts val="400"/>
              </a:spcAft>
              <a:defRPr sz="1400">
                <a:solidFill>
                  <a:srgbClr val="F2F7FF"/>
                </a:solidFill>
                <a:latin typeface="Aptos"/>
              </a:defRPr>
            </a:pPr>
            <a:r>
              <a:t>• "If the numbers make sense..."</a:t>
            </a:r>
          </a:p>
          <a:p>
            <a:pPr algn="l">
              <a:spcAft>
                <a:spcPts val="400"/>
              </a:spcAft>
              <a:defRPr sz="1400">
                <a:solidFill>
                  <a:srgbClr val="F2F7FF"/>
                </a:solidFill>
                <a:latin typeface="Aptos"/>
              </a:defRPr>
            </a:pPr>
            <a:r>
              <a:t>• "If your usage qualifies..."</a:t>
            </a:r>
          </a:p>
          <a:p>
            <a:pPr algn="l">
              <a:spcAft>
                <a:spcPts val="400"/>
              </a:spcAft>
              <a:defRPr sz="1400">
                <a:solidFill>
                  <a:srgbClr val="F2F7FF"/>
                </a:solidFill>
                <a:latin typeface="Aptos"/>
              </a:defRPr>
            </a:pPr>
            <a:r>
              <a:t>• "If this actually lowers the payment..."</a:t>
            </a:r>
          </a:p>
          <a:p>
            <a:pPr algn="l">
              <a:spcAft>
                <a:spcPts val="400"/>
              </a:spcAft>
              <a:defRPr sz="1400">
                <a:solidFill>
                  <a:srgbClr val="F2F7FF"/>
                </a:solidFill>
                <a:latin typeface="Aptos"/>
              </a:defRPr>
            </a:pPr>
            <a:r>
              <a:t>• "If it does not help, we will tell you."</a:t>
            </a:r>
          </a:p>
          <a:p>
            <a:pPr algn="l">
              <a:spcAft>
                <a:spcPts val="400"/>
              </a:spcAft>
            </a:pP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Professional language creates trust because it sounds measured and honest.</a:t>
            </a:r>
          </a:p>
          <a:p>
            <a:pPr algn="l">
              <a:spcAft>
                <a:spcPts val="400"/>
              </a:spcAft>
            </a:pPr>
          </a:p>
          <a:p>
            <a:pPr algn="l">
              <a:spcAft>
                <a:spcPts val="600"/>
              </a:spcAft>
              <a:defRPr b="1" sz="1500">
                <a:solidFill>
                  <a:srgbClr val="E6B85C"/>
                </a:solidFill>
                <a:latin typeface="Aptos"/>
              </a:defRPr>
            </a:pPr>
            <a:r>
              <a:t>Pitch savings and net metering, not equipment</a:t>
            </a:r>
          </a:p>
          <a:p>
            <a:pPr algn="l">
              <a:spcAft>
                <a:spcPts val="400"/>
              </a:spcAft>
              <a:defRPr sz="1400">
                <a:solidFill>
                  <a:srgbClr val="F2F7FF"/>
                </a:solidFill>
                <a:latin typeface="Aptos"/>
              </a:defRPr>
            </a:pPr>
            <a:r>
              <a:t>At the door, the Solution is not a technical explanation of panels. The Solution is the possibility of using net metering to turn their current power usage into a lower, more predictable payment.</a:t>
            </a:r>
          </a:p>
          <a:p>
            <a:pPr algn="l">
              <a:spcAft>
                <a:spcPts val="400"/>
              </a:spcAft>
            </a:pPr>
          </a:p>
          <a:p>
            <a:pPr algn="l">
              <a:spcAft>
                <a:spcPts val="400"/>
              </a:spcAft>
              <a:defRPr sz="1400">
                <a:solidFill>
                  <a:srgbClr val="F2F7FF"/>
                </a:solidFill>
                <a:latin typeface="Aptos"/>
              </a:defRPr>
            </a:pPr>
            <a:r>
              <a:t>Keep the language focused on:</a:t>
            </a: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6) Solution: Create Curiosity Without Overpromising (3/3)</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 Saving money</a:t>
            </a:r>
          </a:p>
          <a:p>
            <a:pPr algn="l">
              <a:spcAft>
                <a:spcPts val="400"/>
              </a:spcAft>
              <a:defRPr sz="1600">
                <a:solidFill>
                  <a:srgbClr val="F2F7FF"/>
                </a:solidFill>
                <a:latin typeface="Aptos"/>
              </a:defRPr>
            </a:pPr>
            <a:r>
              <a:t>• Using their actual annual power usage</a:t>
            </a:r>
          </a:p>
          <a:p>
            <a:pPr algn="l">
              <a:spcAft>
                <a:spcPts val="400"/>
              </a:spcAft>
              <a:defRPr sz="1600">
                <a:solidFill>
                  <a:srgbClr val="F2F7FF"/>
                </a:solidFill>
                <a:latin typeface="Aptos"/>
              </a:defRPr>
            </a:pPr>
            <a:r>
              <a:t>• Comparing against what they already pay Duke</a:t>
            </a:r>
          </a:p>
          <a:p>
            <a:pPr algn="l">
              <a:spcAft>
                <a:spcPts val="400"/>
              </a:spcAft>
              <a:defRPr sz="1600">
                <a:solidFill>
                  <a:srgbClr val="F2F7FF"/>
                </a:solidFill>
                <a:latin typeface="Aptos"/>
              </a:defRPr>
            </a:pPr>
            <a:r>
              <a:t>• Seeing whether net metering makes financial sense</a:t>
            </a:r>
          </a:p>
          <a:p>
            <a:pPr algn="l">
              <a:spcAft>
                <a:spcPts val="400"/>
              </a:spcAft>
            </a:pPr>
          </a:p>
          <a:p>
            <a:pPr algn="l">
              <a:spcAft>
                <a:spcPts val="400"/>
              </a:spcAft>
              <a:defRPr sz="1600">
                <a:solidFill>
                  <a:srgbClr val="F2F7FF"/>
                </a:solidFill>
                <a:latin typeface="Aptos"/>
              </a:defRPr>
            </a:pPr>
            <a:r>
              <a:t>Do not make the homeowner feel like they are being asked to buy equipment at the door. Make them feel like they are checking whether their bill can be lowered.</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7) Take Away: Become Selective, Not Pushy (1/2)</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600"/>
              </a:spcAft>
              <a:defRPr b="1" sz="1500">
                <a:solidFill>
                  <a:srgbClr val="E6B85C"/>
                </a:solidFill>
                <a:latin typeface="Aptos"/>
              </a:defRPr>
            </a:pPr>
            <a:r>
              <a:t>Pitch line</a:t>
            </a:r>
          </a:p>
          <a:p>
            <a:pPr algn="l">
              <a:spcAft>
                <a:spcPts val="400"/>
              </a:spcAft>
              <a:defRPr sz="1400">
                <a:solidFill>
                  <a:srgbClr val="F2F7FF"/>
                </a:solidFill>
                <a:latin typeface="Aptos"/>
              </a:defRPr>
            </a:pPr>
            <a:r>
              <a:t>"Most of your neighbors are only paying $35-$40, so we probably can't help them."</a:t>
            </a:r>
          </a:p>
          <a:p>
            <a:pPr algn="l">
              <a:spcAft>
                <a:spcPts val="400"/>
              </a:spcAft>
            </a:pPr>
          </a:p>
          <a:p>
            <a:pPr algn="l">
              <a:spcAft>
                <a:spcPts val="600"/>
              </a:spcAft>
              <a:defRPr b="1" sz="1500">
                <a:solidFill>
                  <a:srgbClr val="E6B85C"/>
                </a:solidFill>
                <a:latin typeface="Aptos"/>
              </a:defRPr>
            </a:pPr>
            <a:r>
              <a:t>What the Take Away is supposed to do</a:t>
            </a:r>
          </a:p>
          <a:p>
            <a:pPr algn="l">
              <a:spcAft>
                <a:spcPts val="400"/>
              </a:spcAft>
              <a:defRPr sz="1400">
                <a:solidFill>
                  <a:srgbClr val="F2F7FF"/>
                </a:solidFill>
                <a:latin typeface="Aptos"/>
              </a:defRPr>
            </a:pPr>
            <a:r>
              <a:t>The Take Away is one of the most important parts of the pitch. It changes the frame.</a:t>
            </a:r>
          </a:p>
          <a:p>
            <a:pPr algn="l">
              <a:spcAft>
                <a:spcPts val="400"/>
              </a:spcAft>
            </a:pPr>
          </a:p>
          <a:p>
            <a:pPr algn="l">
              <a:spcAft>
                <a:spcPts val="400"/>
              </a:spcAft>
              <a:defRPr sz="1400">
                <a:solidFill>
                  <a:srgbClr val="F2F7FF"/>
                </a:solidFill>
                <a:latin typeface="Aptos"/>
              </a:defRPr>
            </a:pPr>
            <a:r>
              <a:t>Instead of saying:</a:t>
            </a:r>
          </a:p>
          <a:p>
            <a:pPr algn="l">
              <a:spcAft>
                <a:spcPts val="400"/>
              </a:spcAft>
            </a:pPr>
          </a:p>
          <a:p>
            <a:pPr algn="l">
              <a:spcAft>
                <a:spcPts val="400"/>
              </a:spcAft>
              <a:defRPr sz="1400">
                <a:solidFill>
                  <a:srgbClr val="F2F7FF"/>
                </a:solidFill>
                <a:latin typeface="Aptos"/>
              </a:defRPr>
            </a:pPr>
            <a:r>
              <a:t>&gt; "Please be interested."</a:t>
            </a:r>
          </a:p>
          <a:p>
            <a:pPr algn="l">
              <a:spcAft>
                <a:spcPts val="400"/>
              </a:spcAft>
            </a:pP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You are saying:</a:t>
            </a:r>
          </a:p>
          <a:p>
            <a:pPr algn="l">
              <a:spcAft>
                <a:spcPts val="400"/>
              </a:spcAft>
            </a:pPr>
          </a:p>
          <a:p>
            <a:pPr algn="l">
              <a:spcAft>
                <a:spcPts val="400"/>
              </a:spcAft>
              <a:defRPr sz="1400">
                <a:solidFill>
                  <a:srgbClr val="F2F7FF"/>
                </a:solidFill>
                <a:latin typeface="Aptos"/>
              </a:defRPr>
            </a:pPr>
            <a:r>
              <a:t>&gt; "This may not even be for you."</a:t>
            </a:r>
          </a:p>
          <a:p>
            <a:pPr algn="l">
              <a:spcAft>
                <a:spcPts val="400"/>
              </a:spcAft>
            </a:pPr>
          </a:p>
          <a:p>
            <a:pPr algn="l">
              <a:spcAft>
                <a:spcPts val="400"/>
              </a:spcAft>
              <a:defRPr sz="1400">
                <a:solidFill>
                  <a:srgbClr val="F2F7FF"/>
                </a:solidFill>
                <a:latin typeface="Aptos"/>
              </a:defRPr>
            </a:pPr>
            <a:r>
              <a:t>That is powerful because homeowners resist being sold, but they are more open to being qualified.</a:t>
            </a:r>
          </a:p>
          <a:p>
            <a:pPr algn="l">
              <a:spcAft>
                <a:spcPts val="400"/>
              </a:spcAft>
            </a:pPr>
          </a:p>
          <a:p>
            <a:pPr algn="l">
              <a:spcAft>
                <a:spcPts val="600"/>
              </a:spcAft>
              <a:defRPr b="1" sz="1500">
                <a:solidFill>
                  <a:srgbClr val="E6B85C"/>
                </a:solidFill>
                <a:latin typeface="Aptos"/>
              </a:defRPr>
            </a:pPr>
            <a:r>
              <a:t>The psychological effect</a:t>
            </a:r>
          </a:p>
          <a:p>
            <a:pPr algn="l">
              <a:spcAft>
                <a:spcPts val="400"/>
              </a:spcAft>
              <a:defRPr sz="1400">
                <a:solidFill>
                  <a:srgbClr val="F2F7FF"/>
                </a:solidFill>
                <a:latin typeface="Aptos"/>
              </a:defRPr>
            </a:pPr>
            <a:r>
              <a:t>The Take Away lowers pressure and creates curiosity at the same time.</a:t>
            </a:r>
          </a:p>
          <a:p>
            <a:pPr algn="l">
              <a:spcAft>
                <a:spcPts val="400"/>
              </a:spcAft>
            </a:pP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7) Take Away: Become Selective, Not Pushy (2/2)</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It tells the homeowner:</a:t>
            </a:r>
          </a:p>
          <a:p>
            <a:pPr algn="l">
              <a:spcAft>
                <a:spcPts val="400"/>
              </a:spcAft>
              <a:defRPr sz="1400">
                <a:solidFill>
                  <a:srgbClr val="F2F7FF"/>
                </a:solidFill>
                <a:latin typeface="Aptos"/>
              </a:defRPr>
            </a:pPr>
            <a:r>
              <a:t>• Not everyone is a fit.</a:t>
            </a:r>
          </a:p>
          <a:p>
            <a:pPr algn="l">
              <a:spcAft>
                <a:spcPts val="400"/>
              </a:spcAft>
              <a:defRPr sz="1400">
                <a:solidFill>
                  <a:srgbClr val="F2F7FF"/>
                </a:solidFill>
                <a:latin typeface="Aptos"/>
              </a:defRPr>
            </a:pPr>
            <a:r>
              <a:t>• You are not trying to sell every house.</a:t>
            </a:r>
          </a:p>
          <a:p>
            <a:pPr algn="l">
              <a:spcAft>
                <a:spcPts val="400"/>
              </a:spcAft>
              <a:defRPr sz="1400">
                <a:solidFill>
                  <a:srgbClr val="F2F7FF"/>
                </a:solidFill>
                <a:latin typeface="Aptos"/>
              </a:defRPr>
            </a:pPr>
            <a:r>
              <a:t>• Low-bill homes may not make sense.</a:t>
            </a:r>
          </a:p>
          <a:p>
            <a:pPr algn="l">
              <a:spcAft>
                <a:spcPts val="400"/>
              </a:spcAft>
              <a:defRPr sz="1400">
                <a:solidFill>
                  <a:srgbClr val="F2F7FF"/>
                </a:solidFill>
                <a:latin typeface="Aptos"/>
              </a:defRPr>
            </a:pPr>
            <a:r>
              <a:t>• The conversation is about qualification, not pressure.</a:t>
            </a:r>
          </a:p>
          <a:p>
            <a:pPr algn="l">
              <a:spcAft>
                <a:spcPts val="400"/>
              </a:spcAft>
            </a:pPr>
          </a:p>
          <a:p>
            <a:pPr algn="l">
              <a:spcAft>
                <a:spcPts val="400"/>
              </a:spcAft>
              <a:defRPr sz="1400">
                <a:solidFill>
                  <a:srgbClr val="F2F7FF"/>
                </a:solidFill>
                <a:latin typeface="Aptos"/>
              </a:defRPr>
            </a:pPr>
            <a:r>
              <a:t>People naturally want to know which category they are in. The Take Away makes the homeowner more willing to answer the bill question.</a:t>
            </a:r>
          </a:p>
          <a:p>
            <a:pPr algn="l">
              <a:spcAft>
                <a:spcPts val="400"/>
              </a:spcAft>
            </a:pP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600"/>
              </a:spcAft>
              <a:defRPr b="1" sz="1500">
                <a:solidFill>
                  <a:srgbClr val="E6B85C"/>
                </a:solidFill>
                <a:latin typeface="Aptos"/>
              </a:defRPr>
            </a:pPr>
            <a:r>
              <a:t>Why this makes you sound professional</a:t>
            </a:r>
          </a:p>
          <a:p>
            <a:pPr algn="l">
              <a:spcAft>
                <a:spcPts val="400"/>
              </a:spcAft>
              <a:defRPr sz="1400">
                <a:solidFill>
                  <a:srgbClr val="F2F7FF"/>
                </a:solidFill>
                <a:latin typeface="Aptos"/>
              </a:defRPr>
            </a:pPr>
            <a:r>
              <a:t>Professionals are willing to say when something is not a fit. Amateurs try to force every conversation.</a:t>
            </a:r>
          </a:p>
          <a:p>
            <a:pPr algn="l">
              <a:spcAft>
                <a:spcPts val="400"/>
              </a:spcAft>
            </a:pPr>
          </a:p>
          <a:p>
            <a:pPr algn="l">
              <a:spcAft>
                <a:spcPts val="400"/>
              </a:spcAft>
              <a:defRPr sz="1400">
                <a:solidFill>
                  <a:srgbClr val="F2F7FF"/>
                </a:solidFill>
                <a:latin typeface="Aptos"/>
              </a:defRPr>
            </a:pPr>
            <a:r>
              <a:t>When the homeowner feels that you are willing to disqualify them, they trust your recommendation more.</a:t>
            </a: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8) Close: Ask the Question That Moves the Pitch Forward (1/2)</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600"/>
              </a:spcAft>
              <a:defRPr b="1" sz="1500">
                <a:solidFill>
                  <a:srgbClr val="E6B85C"/>
                </a:solidFill>
                <a:latin typeface="Aptos"/>
              </a:defRPr>
            </a:pPr>
            <a:r>
              <a:t>Pitch line</a:t>
            </a:r>
          </a:p>
          <a:p>
            <a:pPr algn="l">
              <a:spcAft>
                <a:spcPts val="400"/>
              </a:spcAft>
              <a:defRPr sz="1400">
                <a:solidFill>
                  <a:srgbClr val="F2F7FF"/>
                </a:solidFill>
                <a:latin typeface="Aptos"/>
              </a:defRPr>
            </a:pPr>
            <a:r>
              <a:t>"What's the lowest your Duke bill gets?"</a:t>
            </a:r>
          </a:p>
          <a:p>
            <a:pPr algn="l">
              <a:spcAft>
                <a:spcPts val="400"/>
              </a:spcAft>
            </a:pPr>
          </a:p>
          <a:p>
            <a:pPr algn="l">
              <a:spcAft>
                <a:spcPts val="600"/>
              </a:spcAft>
              <a:defRPr b="1" sz="1500">
                <a:solidFill>
                  <a:srgbClr val="E6B85C"/>
                </a:solidFill>
                <a:latin typeface="Aptos"/>
              </a:defRPr>
            </a:pPr>
            <a:r>
              <a:t>What the Close is supposed to do</a:t>
            </a:r>
          </a:p>
          <a:p>
            <a:pPr algn="l">
              <a:spcAft>
                <a:spcPts val="400"/>
              </a:spcAft>
              <a:defRPr sz="1400">
                <a:solidFill>
                  <a:srgbClr val="F2F7FF"/>
                </a:solidFill>
                <a:latin typeface="Aptos"/>
              </a:defRPr>
            </a:pPr>
            <a:r>
              <a:t>This is the first real qualifying question. It turns the conversation from general information into the homeowner's actual situation.</a:t>
            </a:r>
          </a:p>
          <a:p>
            <a:pPr algn="l">
              <a:spcAft>
                <a:spcPts val="400"/>
              </a:spcAft>
            </a:pPr>
          </a:p>
          <a:p>
            <a:pPr algn="l">
              <a:spcAft>
                <a:spcPts val="400"/>
              </a:spcAft>
              <a:defRPr sz="1400">
                <a:solidFill>
                  <a:srgbClr val="F2F7FF"/>
                </a:solidFill>
                <a:latin typeface="Aptos"/>
              </a:defRPr>
            </a:pPr>
            <a:r>
              <a:t>You are not closing the sale here. You are closing for information.</a:t>
            </a:r>
          </a:p>
          <a:p>
            <a:pPr algn="l">
              <a:spcAft>
                <a:spcPts val="400"/>
              </a:spcAft>
            </a:pPr>
          </a:p>
          <a:p>
            <a:pPr algn="l">
              <a:spcAft>
                <a:spcPts val="600"/>
              </a:spcAft>
              <a:defRPr b="1" sz="1500">
                <a:solidFill>
                  <a:srgbClr val="E6B85C"/>
                </a:solidFill>
                <a:latin typeface="Aptos"/>
              </a:defRPr>
            </a:pPr>
            <a:r>
              <a:t>Why ask for the lowest bill first</a:t>
            </a:r>
          </a:p>
          <a:p>
            <a:pPr algn="l">
              <a:spcAft>
                <a:spcPts val="400"/>
              </a:spcAft>
              <a:defRPr sz="1400">
                <a:solidFill>
                  <a:srgbClr val="F2F7FF"/>
                </a:solidFill>
                <a:latin typeface="Aptos"/>
              </a:defRPr>
            </a:pPr>
            <a:r>
              <a:t>Asking for the lowest bill feels less invasive than immediately asking for the highest bill. It also gives you a natural path:</a:t>
            </a:r>
          </a:p>
          <a:p>
            <a:pPr algn="l">
              <a:spcAft>
                <a:spcPts val="400"/>
              </a:spcAft>
            </a:pP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1. "What's the lowest your Duke bill gets?"</a:t>
            </a:r>
          </a:p>
          <a:p>
            <a:pPr algn="l">
              <a:spcAft>
                <a:spcPts val="400"/>
              </a:spcAft>
              <a:defRPr sz="1400">
                <a:solidFill>
                  <a:srgbClr val="F2F7FF"/>
                </a:solidFill>
                <a:latin typeface="Aptos"/>
              </a:defRPr>
            </a:pPr>
            <a:r>
              <a:t>2. "And what does it spike to in the summer?"</a:t>
            </a:r>
          </a:p>
          <a:p>
            <a:pPr algn="l">
              <a:spcAft>
                <a:spcPts val="400"/>
              </a:spcAft>
              <a:defRPr sz="1400">
                <a:solidFill>
                  <a:srgbClr val="F2F7FF"/>
                </a:solidFill>
                <a:latin typeface="Aptos"/>
              </a:defRPr>
            </a:pPr>
            <a:r>
              <a:t>3. "How long has it been hitting that range?"</a:t>
            </a:r>
          </a:p>
          <a:p>
            <a:pPr algn="l">
              <a:spcAft>
                <a:spcPts val="400"/>
              </a:spcAft>
              <a:defRPr sz="1400">
                <a:solidFill>
                  <a:srgbClr val="F2F7FF"/>
                </a:solidFill>
                <a:latin typeface="Aptos"/>
              </a:defRPr>
            </a:pPr>
            <a:r>
              <a:t>4. "Is it the summer spike or the constant increase that bothers you more?"</a:t>
            </a:r>
          </a:p>
          <a:p>
            <a:pPr algn="l">
              <a:spcAft>
                <a:spcPts val="400"/>
              </a:spcAft>
            </a:pPr>
          </a:p>
          <a:p>
            <a:pPr algn="l">
              <a:spcAft>
                <a:spcPts val="600"/>
              </a:spcAft>
              <a:defRPr b="1" sz="1500">
                <a:solidFill>
                  <a:srgbClr val="E6B85C"/>
                </a:solidFill>
                <a:latin typeface="Aptos"/>
              </a:defRPr>
            </a:pPr>
            <a:r>
              <a:t>The psychological effect</a:t>
            </a:r>
          </a:p>
          <a:p>
            <a:pPr algn="l">
              <a:spcAft>
                <a:spcPts val="400"/>
              </a:spcAft>
              <a:defRPr sz="1400">
                <a:solidFill>
                  <a:srgbClr val="F2F7FF"/>
                </a:solidFill>
                <a:latin typeface="Aptos"/>
              </a:defRPr>
            </a:pPr>
            <a:r>
              <a:t>Once the homeowner says their number out loud, the conversation becomes personal. They are no longer talking about "rates" in general. They are talking about their own monthly payment.</a:t>
            </a:r>
          </a:p>
          <a:p>
            <a:pPr algn="l">
              <a:spcAft>
                <a:spcPts val="400"/>
              </a:spcAft>
            </a:pP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8) Close: Ask the Question That Moves the Pitch Forward (2/2)</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That is where the appointment begins to become relevant.</a:t>
            </a:r>
          </a:p>
          <a:p>
            <a:pPr algn="l">
              <a:spcAft>
                <a:spcPts val="400"/>
              </a:spcAft>
            </a:pPr>
          </a:p>
          <a:p>
            <a:pPr algn="l">
              <a:spcAft>
                <a:spcPts val="400"/>
              </a:spcAft>
              <a:defRPr sz="1600">
                <a:solidFill>
                  <a:srgbClr val="F2F7FF"/>
                </a:solidFill>
                <a:latin typeface="Aptos"/>
              </a:defRPr>
            </a:pPr>
            <a:r>
              <a:t>Example:</a:t>
            </a:r>
          </a:p>
          <a:p>
            <a:pPr algn="l">
              <a:spcAft>
                <a:spcPts val="400"/>
              </a:spcAft>
            </a:pPr>
          </a:p>
          <a:p>
            <a:pPr algn="l">
              <a:spcAft>
                <a:spcPts val="400"/>
              </a:spcAft>
              <a:defRPr sz="1600">
                <a:solidFill>
                  <a:srgbClr val="F2F7FF"/>
                </a:solidFill>
                <a:latin typeface="Aptos"/>
              </a:defRPr>
            </a:pPr>
            <a:r>
              <a:t>Homeowner: "$220."</a:t>
            </a:r>
          </a:p>
          <a:p>
            <a:pPr algn="l">
              <a:spcAft>
                <a:spcPts val="400"/>
              </a:spcAft>
            </a:pPr>
          </a:p>
          <a:p>
            <a:pPr algn="l">
              <a:spcAft>
                <a:spcPts val="400"/>
              </a:spcAft>
              <a:defRPr sz="1600">
                <a:solidFill>
                  <a:srgbClr val="F2F7FF"/>
                </a:solidFill>
                <a:latin typeface="Aptos"/>
              </a:defRPr>
            </a:pPr>
            <a:r>
              <a:t>Setter: "Got it. And what does it usually hit in the summer?"</a:t>
            </a:r>
          </a:p>
          <a:p>
            <a:pPr algn="l">
              <a:spcAft>
                <a:spcPts val="400"/>
              </a:spcAft>
            </a:pPr>
          </a:p>
          <a:p>
            <a:pPr algn="l">
              <a:spcAft>
                <a:spcPts val="400"/>
              </a:spcAft>
              <a:defRPr sz="1600">
                <a:solidFill>
                  <a:srgbClr val="F2F7FF"/>
                </a:solidFill>
                <a:latin typeface="Aptos"/>
              </a:defRPr>
            </a:pPr>
            <a:r>
              <a:t>Professional composure makes the homeowner feel safe sharing more.</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9) Full Pitch With Natural Delivery (1/2)</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The script should sound like a conversation, not a performance.</a:t>
            </a:r>
          </a:p>
          <a:p>
            <a:pPr algn="l">
              <a:spcAft>
                <a:spcPts val="400"/>
              </a:spcAft>
            </a:pPr>
          </a:p>
          <a:p>
            <a:pPr algn="l">
              <a:spcAft>
                <a:spcPts val="600"/>
              </a:spcAft>
              <a:defRPr b="1" sz="1500">
                <a:solidFill>
                  <a:srgbClr val="E6B85C"/>
                </a:solidFill>
                <a:latin typeface="Aptos"/>
              </a:defRPr>
            </a:pPr>
            <a:r>
              <a:t>Robotic version</a:t>
            </a:r>
          </a:p>
          <a:p>
            <a:pPr algn="l">
              <a:spcAft>
                <a:spcPts val="400"/>
              </a:spcAft>
              <a:defRPr sz="1400">
                <a:solidFill>
                  <a:srgbClr val="F2F7FF"/>
                </a:solidFill>
                <a:latin typeface="Aptos"/>
              </a:defRPr>
            </a:pPr>
            <a:r>
              <a:t>"Hey listen I don't have much time do you see these powerlines here they are all going underground because most people lost power during the storms that way if something catastrophic happens we'll still have power does that make sense Duke is increasing rates..."</a:t>
            </a:r>
          </a:p>
          <a:p>
            <a:pPr algn="l">
              <a:spcAft>
                <a:spcPts val="400"/>
              </a:spcAft>
            </a:pPr>
          </a:p>
          <a:p>
            <a:pPr algn="l">
              <a:spcAft>
                <a:spcPts val="400"/>
              </a:spcAft>
              <a:defRPr sz="1400">
                <a:solidFill>
                  <a:srgbClr val="F2F7FF"/>
                </a:solidFill>
                <a:latin typeface="Aptos"/>
              </a:defRPr>
            </a:pPr>
            <a:r>
              <a:t>This sounds rushed, memorized, and impersonal.</a:t>
            </a:r>
          </a:p>
          <a:p>
            <a:pPr algn="l">
              <a:spcAft>
                <a:spcPts val="400"/>
              </a:spcAft>
            </a:pPr>
          </a:p>
          <a:p>
            <a:pPr algn="l">
              <a:spcAft>
                <a:spcPts val="600"/>
              </a:spcAft>
              <a:defRPr b="1" sz="1500">
                <a:solidFill>
                  <a:srgbClr val="E6B85C"/>
                </a:solidFill>
                <a:latin typeface="Aptos"/>
              </a:defRPr>
            </a:pPr>
            <a:r>
              <a:t>Human and professional version</a:t>
            </a:r>
          </a:p>
          <a:p>
            <a:pPr algn="l">
              <a:spcAft>
                <a:spcPts val="400"/>
              </a:spcAft>
              <a:defRPr sz="1400">
                <a:solidFill>
                  <a:srgbClr val="F2F7FF"/>
                </a:solidFill>
                <a:latin typeface="Aptos"/>
              </a:defRPr>
            </a:pPr>
            <a:r>
              <a:t>Setter: "Hey listen, I don't have much time. Do you see these powerlines here?"</a:t>
            </a:r>
          </a:p>
          <a:p>
            <a:pPr algn="l">
              <a:spcAft>
                <a:spcPts val="400"/>
              </a:spcAft>
            </a:pP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Homeowner: "Yeah."</a:t>
            </a:r>
          </a:p>
          <a:p>
            <a:pPr algn="l">
              <a:spcAft>
                <a:spcPts val="400"/>
              </a:spcAft>
            </a:pPr>
          </a:p>
          <a:p>
            <a:pPr algn="l">
              <a:spcAft>
                <a:spcPts val="400"/>
              </a:spcAft>
              <a:defRPr sz="1400">
                <a:solidFill>
                  <a:srgbClr val="F2F7FF"/>
                </a:solidFill>
                <a:latin typeface="Aptos"/>
              </a:defRPr>
            </a:pPr>
            <a:r>
              <a:t>Setter: "They're going underground because of the storm outages. That way if something major happens again, the area has more reliable power. Does that make sense?"</a:t>
            </a:r>
          </a:p>
          <a:p>
            <a:pPr algn="l">
              <a:spcAft>
                <a:spcPts val="400"/>
              </a:spcAft>
            </a:pPr>
          </a:p>
          <a:p>
            <a:pPr algn="l">
              <a:spcAft>
                <a:spcPts val="400"/>
              </a:spcAft>
              <a:defRPr sz="1400">
                <a:solidFill>
                  <a:srgbClr val="F2F7FF"/>
                </a:solidFill>
                <a:latin typeface="Aptos"/>
              </a:defRPr>
            </a:pPr>
            <a:r>
              <a:t>Homeowner: "Yeah, we lost power for two days."</a:t>
            </a:r>
          </a:p>
          <a:p>
            <a:pPr algn="l">
              <a:spcAft>
                <a:spcPts val="400"/>
              </a:spcAft>
            </a:pPr>
          </a:p>
          <a:p>
            <a:pPr algn="l">
              <a:spcAft>
                <a:spcPts val="400"/>
              </a:spcAft>
              <a:defRPr sz="1400">
                <a:solidFill>
                  <a:srgbClr val="F2F7FF"/>
                </a:solidFill>
                <a:latin typeface="Aptos"/>
              </a:defRPr>
            </a:pPr>
            <a:r>
              <a:t>Setter: "Exactly, a lot of people around here did. The frustrating part is Duke is increasing rates to pay for all that infrastructure, so people are paying more for the same amount of power."</a:t>
            </a:r>
          </a:p>
          <a:p>
            <a:pPr algn="l">
              <a:spcAft>
                <a:spcPts val="400"/>
              </a:spcAft>
            </a:pPr>
          </a:p>
          <a:p>
            <a:pPr algn="l">
              <a:spcAft>
                <a:spcPts val="400"/>
              </a:spcAft>
              <a:defRPr sz="1400">
                <a:solidFill>
                  <a:srgbClr val="F2F7FF"/>
                </a:solidFill>
                <a:latin typeface="Aptos"/>
              </a:defRPr>
            </a:pPr>
            <a:r>
              <a:t>Homeowner: "Yeah, our bill has definitely gone up."</a:t>
            </a: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9) Full Pitch With Natural Delivery (2/2)</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400"/>
              </a:spcAft>
            </a:pPr>
          </a:p>
          <a:p>
            <a:pPr algn="l">
              <a:spcAft>
                <a:spcPts val="400"/>
              </a:spcAft>
              <a:defRPr sz="1400">
                <a:solidFill>
                  <a:srgbClr val="F2F7FF"/>
                </a:solidFill>
                <a:latin typeface="Aptos"/>
              </a:defRPr>
            </a:pPr>
            <a:r>
              <a:t>Setter: "That's why I stopped. If we can get you the power you're already using from Duke for significantly cheaper, we'll show you exactly what it looks like. Most neighbors are only paying $35-$40, so we probably can't help them. What's the lowest your Duke bill gets?"</a:t>
            </a:r>
          </a:p>
          <a:p>
            <a:pPr algn="l">
              <a:spcAft>
                <a:spcPts val="400"/>
              </a:spcAft>
            </a:pPr>
          </a:p>
          <a:p>
            <a:pPr algn="l">
              <a:spcAft>
                <a:spcPts val="400"/>
              </a:spcAft>
              <a:defRPr sz="1400">
                <a:solidFill>
                  <a:srgbClr val="F2F7FF"/>
                </a:solidFill>
                <a:latin typeface="Aptos"/>
              </a:defRPr>
            </a:pPr>
            <a:r>
              <a:t>Homeowner: "$180 on the low end."</a:t>
            </a:r>
          </a:p>
          <a:p>
            <a:pPr algn="l">
              <a:spcAft>
                <a:spcPts val="400"/>
              </a:spcAft>
            </a:pPr>
          </a:p>
          <a:p>
            <a:pPr algn="l">
              <a:spcAft>
                <a:spcPts val="400"/>
              </a:spcAft>
              <a:defRPr sz="1400">
                <a:solidFill>
                  <a:srgbClr val="F2F7FF"/>
                </a:solidFill>
                <a:latin typeface="Aptos"/>
              </a:defRPr>
            </a:pPr>
            <a:r>
              <a:t>Setter: "Got it. And if I can't even save you money and it ends up costing more, what are you going to tell me?"</a:t>
            </a:r>
          </a:p>
          <a:p>
            <a:pPr algn="l">
              <a:spcAft>
                <a:spcPts val="400"/>
              </a:spcAft>
            </a:pPr>
          </a:p>
          <a:p>
            <a:pPr algn="l">
              <a:spcAft>
                <a:spcPts val="400"/>
              </a:spcAft>
              <a:defRPr sz="1400">
                <a:solidFill>
                  <a:srgbClr val="F2F7FF"/>
                </a:solidFill>
                <a:latin typeface="Aptos"/>
              </a:defRPr>
            </a:pPr>
            <a:r>
              <a:t>Homeowner: "No."</a:t>
            </a:r>
          </a:p>
          <a:p>
            <a:pPr algn="l">
              <a:spcAft>
                <a:spcPts val="400"/>
              </a:spcAft>
            </a:pPr>
          </a:p>
          <a:p>
            <a:pPr algn="l">
              <a:spcAft>
                <a:spcPts val="400"/>
              </a:spcAft>
              <a:defRPr sz="1400">
                <a:solidFill>
                  <a:srgbClr val="F2F7FF"/>
                </a:solidFill>
                <a:latin typeface="Aptos"/>
              </a:defRPr>
            </a:pPr>
            <a:r>
              <a:t>Setter: "Exactly. What I look at is the squiggly line on your bill. It tells me how much power you are pulling annually and lets me know if I can save you money. Do you get this online or paper?"</a:t>
            </a:r>
          </a:p>
          <a:p>
            <a:pPr algn="l">
              <a:spcAft>
                <a:spcPts val="400"/>
              </a:spcAft>
            </a:pP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600"/>
              </a:spcAft>
              <a:defRPr b="1" sz="1500">
                <a:solidFill>
                  <a:srgbClr val="E6B85C"/>
                </a:solidFill>
                <a:latin typeface="Aptos"/>
              </a:defRPr>
            </a:pPr>
            <a:r>
              <a:t>What makes the second version better</a:t>
            </a:r>
          </a:p>
          <a:p>
            <a:pPr algn="l">
              <a:spcAft>
                <a:spcPts val="400"/>
              </a:spcAft>
              <a:defRPr sz="1400">
                <a:solidFill>
                  <a:srgbClr val="F2F7FF"/>
                </a:solidFill>
                <a:latin typeface="Aptos"/>
              </a:defRPr>
            </a:pPr>
            <a:r>
              <a:t>• The setter pauses.</a:t>
            </a:r>
          </a:p>
          <a:p>
            <a:pPr algn="l">
              <a:spcAft>
                <a:spcPts val="400"/>
              </a:spcAft>
              <a:defRPr sz="1400">
                <a:solidFill>
                  <a:srgbClr val="F2F7FF"/>
                </a:solidFill>
                <a:latin typeface="Aptos"/>
              </a:defRPr>
            </a:pPr>
            <a:r>
              <a:t>• The homeowner is allowed to respond.</a:t>
            </a:r>
          </a:p>
          <a:p>
            <a:pPr algn="l">
              <a:spcAft>
                <a:spcPts val="400"/>
              </a:spcAft>
              <a:defRPr sz="1400">
                <a:solidFill>
                  <a:srgbClr val="F2F7FF"/>
                </a:solidFill>
                <a:latin typeface="Aptos"/>
              </a:defRPr>
            </a:pPr>
            <a:r>
              <a:t>• The setter acknowledges the response.</a:t>
            </a:r>
          </a:p>
          <a:p>
            <a:pPr algn="l">
              <a:spcAft>
                <a:spcPts val="400"/>
              </a:spcAft>
              <a:defRPr sz="1400">
                <a:solidFill>
                  <a:srgbClr val="F2F7FF"/>
                </a:solidFill>
                <a:latin typeface="Aptos"/>
              </a:defRPr>
            </a:pPr>
            <a:r>
              <a:t>• The pitch still moves forward.</a:t>
            </a:r>
          </a:p>
          <a:p>
            <a:pPr algn="l">
              <a:spcAft>
                <a:spcPts val="400"/>
              </a:spcAft>
              <a:defRPr sz="1400">
                <a:solidFill>
                  <a:srgbClr val="F2F7FF"/>
                </a:solidFill>
                <a:latin typeface="Aptos"/>
              </a:defRPr>
            </a:pPr>
            <a:r>
              <a:t>• The tone is calm and professional.</a:t>
            </a:r>
          </a:p>
          <a:p>
            <a:pPr algn="l">
              <a:spcAft>
                <a:spcPts val="400"/>
              </a:spcAft>
              <a:defRPr sz="1400">
                <a:solidFill>
                  <a:srgbClr val="F2F7FF"/>
                </a:solidFill>
                <a:latin typeface="Aptos"/>
              </a:defRPr>
            </a:pPr>
            <a:r>
              <a:t>• The language sounds like a real conversation.</a:t>
            </a: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10) Tonality: Why Your Tone Changes the Outcome</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Tonality is the emotional meaning behind your words. Homeowners often react more to how you sound than to the exact words you say.</a:t>
            </a:r>
          </a:p>
          <a:p>
            <a:pPr algn="l">
              <a:spcAft>
                <a:spcPts val="400"/>
              </a:spcAft>
            </a:pPr>
          </a:p>
          <a:p>
            <a:pPr algn="l">
              <a:spcAft>
                <a:spcPts val="400"/>
              </a:spcAft>
              <a:defRPr sz="1600">
                <a:solidFill>
                  <a:srgbClr val="F2F7FF"/>
                </a:solidFill>
                <a:latin typeface="Aptos"/>
              </a:defRPr>
            </a:pPr>
            <a:r>
              <a:t>The same line can build trust or trigger resistance depending on tone.</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Good tones and why they work (1/4)</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600"/>
              </a:spcAft>
              <a:defRPr b="1" sz="1500">
                <a:solidFill>
                  <a:srgbClr val="E6B85C"/>
                </a:solidFill>
                <a:latin typeface="Aptos"/>
              </a:defRPr>
            </a:pPr>
            <a:r>
              <a:t>Calm authority</a:t>
            </a:r>
          </a:p>
          <a:p>
            <a:pPr algn="l">
              <a:spcAft>
                <a:spcPts val="400"/>
              </a:spcAft>
              <a:defRPr sz="1400">
                <a:solidFill>
                  <a:srgbClr val="F2F7FF"/>
                </a:solidFill>
                <a:latin typeface="Aptos"/>
              </a:defRPr>
            </a:pPr>
            <a:r>
              <a:t>Use this for the Intro, Take Away, and Close.</a:t>
            </a:r>
          </a:p>
          <a:p>
            <a:pPr algn="l">
              <a:spcAft>
                <a:spcPts val="400"/>
              </a:spcAft>
            </a:pPr>
          </a:p>
          <a:p>
            <a:pPr algn="l">
              <a:spcAft>
                <a:spcPts val="400"/>
              </a:spcAft>
              <a:defRPr sz="1400">
                <a:solidFill>
                  <a:srgbClr val="F2F7FF"/>
                </a:solidFill>
                <a:latin typeface="Aptos"/>
              </a:defRPr>
            </a:pPr>
            <a:r>
              <a:t>Calm authority means you sound relaxed, informed, and comfortable leading the conversation.</a:t>
            </a:r>
          </a:p>
          <a:p>
            <a:pPr algn="l">
              <a:spcAft>
                <a:spcPts val="400"/>
              </a:spcAft>
            </a:pPr>
          </a:p>
          <a:p>
            <a:pPr algn="l">
              <a:spcAft>
                <a:spcPts val="400"/>
              </a:spcAft>
              <a:defRPr sz="1400">
                <a:solidFill>
                  <a:srgbClr val="F2F7FF"/>
                </a:solidFill>
                <a:latin typeface="Aptos"/>
              </a:defRPr>
            </a:pPr>
            <a:r>
              <a:t>Why it works:</a:t>
            </a:r>
          </a:p>
          <a:p>
            <a:pPr algn="l">
              <a:spcAft>
                <a:spcPts val="400"/>
              </a:spcAft>
              <a:defRPr sz="1400">
                <a:solidFill>
                  <a:srgbClr val="F2F7FF"/>
                </a:solidFill>
                <a:latin typeface="Aptos"/>
              </a:defRPr>
            </a:pPr>
            <a:r>
              <a:t>• It lowers the homeowner's anxiety.</a:t>
            </a:r>
          </a:p>
          <a:p>
            <a:pPr algn="l">
              <a:spcAft>
                <a:spcPts val="400"/>
              </a:spcAft>
              <a:defRPr sz="1400">
                <a:solidFill>
                  <a:srgbClr val="F2F7FF"/>
                </a:solidFill>
                <a:latin typeface="Aptos"/>
              </a:defRPr>
            </a:pPr>
            <a:r>
              <a:t>• It signals that you do this professionally.</a:t>
            </a:r>
          </a:p>
          <a:p>
            <a:pPr algn="l">
              <a:spcAft>
                <a:spcPts val="400"/>
              </a:spcAft>
              <a:defRPr sz="1400">
                <a:solidFill>
                  <a:srgbClr val="F2F7FF"/>
                </a:solidFill>
                <a:latin typeface="Aptos"/>
              </a:defRPr>
            </a:pPr>
            <a:r>
              <a:t>• It keeps you from sounding needy.</a:t>
            </a:r>
          </a:p>
          <a:p>
            <a:pPr algn="l">
              <a:spcAft>
                <a:spcPts val="400"/>
              </a:spcAft>
              <a:defRPr sz="1400">
                <a:solidFill>
                  <a:srgbClr val="F2F7FF"/>
                </a:solidFill>
                <a:latin typeface="Aptos"/>
              </a:defRPr>
            </a:pPr>
            <a:r>
              <a:t>• It makes the homeowner more likely to follow your lead.</a:t>
            </a:r>
          </a:p>
          <a:p>
            <a:pPr algn="l">
              <a:spcAft>
                <a:spcPts val="400"/>
              </a:spcAft>
            </a:pP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What it sounds like:</a:t>
            </a:r>
          </a:p>
          <a:p>
            <a:pPr algn="l">
              <a:spcAft>
                <a:spcPts val="400"/>
              </a:spcAft>
              <a:defRPr sz="1400">
                <a:solidFill>
                  <a:srgbClr val="F2F7FF"/>
                </a:solidFill>
                <a:latin typeface="Aptos"/>
              </a:defRPr>
            </a:pPr>
            <a:r>
              <a:t>• Steady voice</a:t>
            </a:r>
          </a:p>
          <a:p>
            <a:pPr algn="l">
              <a:spcAft>
                <a:spcPts val="400"/>
              </a:spcAft>
              <a:defRPr sz="1400">
                <a:solidFill>
                  <a:srgbClr val="F2F7FF"/>
                </a:solidFill>
                <a:latin typeface="Aptos"/>
              </a:defRPr>
            </a:pPr>
            <a:r>
              <a:t>• Normal volume</a:t>
            </a:r>
          </a:p>
          <a:p>
            <a:pPr algn="l">
              <a:spcAft>
                <a:spcPts val="400"/>
              </a:spcAft>
              <a:defRPr sz="1400">
                <a:solidFill>
                  <a:srgbClr val="F2F7FF"/>
                </a:solidFill>
                <a:latin typeface="Aptos"/>
              </a:defRPr>
            </a:pPr>
            <a:r>
              <a:t>• Clear words</a:t>
            </a:r>
          </a:p>
          <a:p>
            <a:pPr algn="l">
              <a:spcAft>
                <a:spcPts val="400"/>
              </a:spcAft>
              <a:defRPr sz="1400">
                <a:solidFill>
                  <a:srgbClr val="F2F7FF"/>
                </a:solidFill>
                <a:latin typeface="Aptos"/>
              </a:defRPr>
            </a:pPr>
            <a:r>
              <a:t>• No rushed endings</a:t>
            </a:r>
          </a:p>
          <a:p>
            <a:pPr algn="l">
              <a:spcAft>
                <a:spcPts val="400"/>
              </a:spcAft>
            </a:pPr>
          </a:p>
          <a:p>
            <a:pPr algn="l">
              <a:spcAft>
                <a:spcPts val="600"/>
              </a:spcAft>
              <a:defRPr b="1" sz="1500">
                <a:solidFill>
                  <a:srgbClr val="E6B85C"/>
                </a:solidFill>
                <a:latin typeface="Aptos"/>
              </a:defRPr>
            </a:pPr>
            <a:r>
              <a:t>Practical concern</a:t>
            </a:r>
          </a:p>
          <a:p>
            <a:pPr algn="l">
              <a:spcAft>
                <a:spcPts val="400"/>
              </a:spcAft>
              <a:defRPr sz="1400">
                <a:solidFill>
                  <a:srgbClr val="F2F7FF"/>
                </a:solidFill>
                <a:latin typeface="Aptos"/>
              </a:defRPr>
            </a:pPr>
            <a:r>
              <a:t>Use this when explaining outages, infrastructure, and rate increases.</a:t>
            </a: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Good tones and why they work (2/4)</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400"/>
              </a:spcAft>
            </a:pPr>
          </a:p>
          <a:p>
            <a:pPr algn="l">
              <a:spcAft>
                <a:spcPts val="400"/>
              </a:spcAft>
              <a:defRPr sz="1400">
                <a:solidFill>
                  <a:srgbClr val="F2F7FF"/>
                </a:solidFill>
                <a:latin typeface="Aptos"/>
              </a:defRPr>
            </a:pPr>
            <a:r>
              <a:t>Practical concern means you sound like the issue matters, but you are not trying to scare them.</a:t>
            </a:r>
          </a:p>
          <a:p>
            <a:pPr algn="l">
              <a:spcAft>
                <a:spcPts val="400"/>
              </a:spcAft>
            </a:pPr>
          </a:p>
          <a:p>
            <a:pPr algn="l">
              <a:spcAft>
                <a:spcPts val="400"/>
              </a:spcAft>
              <a:defRPr sz="1400">
                <a:solidFill>
                  <a:srgbClr val="F2F7FF"/>
                </a:solidFill>
                <a:latin typeface="Aptos"/>
              </a:defRPr>
            </a:pPr>
            <a:r>
              <a:t>Why it works:</a:t>
            </a:r>
          </a:p>
          <a:p>
            <a:pPr algn="l">
              <a:spcAft>
                <a:spcPts val="400"/>
              </a:spcAft>
              <a:defRPr sz="1400">
                <a:solidFill>
                  <a:srgbClr val="F2F7FF"/>
                </a:solidFill>
                <a:latin typeface="Aptos"/>
              </a:defRPr>
            </a:pPr>
            <a:r>
              <a:t>• It makes the problem feel real.</a:t>
            </a:r>
          </a:p>
          <a:p>
            <a:pPr algn="l">
              <a:spcAft>
                <a:spcPts val="400"/>
              </a:spcAft>
              <a:defRPr sz="1400">
                <a:solidFill>
                  <a:srgbClr val="F2F7FF"/>
                </a:solidFill>
                <a:latin typeface="Aptos"/>
              </a:defRPr>
            </a:pPr>
            <a:r>
              <a:t>• It avoids fear-based selling.</a:t>
            </a:r>
          </a:p>
          <a:p>
            <a:pPr algn="l">
              <a:spcAft>
                <a:spcPts val="400"/>
              </a:spcAft>
              <a:defRPr sz="1400">
                <a:solidFill>
                  <a:srgbClr val="F2F7FF"/>
                </a:solidFill>
                <a:latin typeface="Aptos"/>
              </a:defRPr>
            </a:pPr>
            <a:r>
              <a:t>• It keeps the conversation credible.</a:t>
            </a:r>
          </a:p>
          <a:p>
            <a:pPr algn="l">
              <a:spcAft>
                <a:spcPts val="400"/>
              </a:spcAft>
              <a:defRPr sz="1400">
                <a:solidFill>
                  <a:srgbClr val="F2F7FF"/>
                </a:solidFill>
                <a:latin typeface="Aptos"/>
              </a:defRPr>
            </a:pPr>
            <a:r>
              <a:t>• It invites the homeowner to relate.</a:t>
            </a:r>
          </a:p>
          <a:p>
            <a:pPr algn="l">
              <a:spcAft>
                <a:spcPts val="400"/>
              </a:spcAft>
            </a:pP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What it sounds like:</a:t>
            </a:r>
          </a:p>
          <a:p>
            <a:pPr algn="l">
              <a:spcAft>
                <a:spcPts val="400"/>
              </a:spcAft>
              <a:defRPr sz="1400">
                <a:solidFill>
                  <a:srgbClr val="F2F7FF"/>
                </a:solidFill>
                <a:latin typeface="Aptos"/>
              </a:defRPr>
            </a:pPr>
            <a:r>
              <a:t>• Slightly serious</a:t>
            </a:r>
          </a:p>
          <a:p>
            <a:pPr algn="l">
              <a:spcAft>
                <a:spcPts val="400"/>
              </a:spcAft>
              <a:defRPr sz="1400">
                <a:solidFill>
                  <a:srgbClr val="F2F7FF"/>
                </a:solidFill>
                <a:latin typeface="Aptos"/>
              </a:defRPr>
            </a:pPr>
            <a:r>
              <a:t>• Grounded</a:t>
            </a:r>
          </a:p>
          <a:p>
            <a:pPr algn="l">
              <a:spcAft>
                <a:spcPts val="400"/>
              </a:spcAft>
              <a:defRPr sz="1400">
                <a:solidFill>
                  <a:srgbClr val="F2F7FF"/>
                </a:solidFill>
                <a:latin typeface="Aptos"/>
              </a:defRPr>
            </a:pPr>
            <a:r>
              <a:t>• Empathetic</a:t>
            </a:r>
          </a:p>
          <a:p>
            <a:pPr algn="l">
              <a:spcAft>
                <a:spcPts val="400"/>
              </a:spcAft>
              <a:defRPr sz="1400">
                <a:solidFill>
                  <a:srgbClr val="F2F7FF"/>
                </a:solidFill>
                <a:latin typeface="Aptos"/>
              </a:defRPr>
            </a:pPr>
            <a:r>
              <a:t>• Not dramatic</a:t>
            </a:r>
          </a:p>
          <a:p>
            <a:pPr algn="l">
              <a:spcAft>
                <a:spcPts val="400"/>
              </a:spcAft>
            </a:pPr>
          </a:p>
          <a:p>
            <a:pPr algn="l">
              <a:spcAft>
                <a:spcPts val="600"/>
              </a:spcAft>
              <a:defRPr b="1" sz="1500">
                <a:solidFill>
                  <a:srgbClr val="E6B85C"/>
                </a:solidFill>
                <a:latin typeface="Aptos"/>
              </a:defRPr>
            </a:pPr>
            <a:r>
              <a:t>Curious professional</a:t>
            </a:r>
          </a:p>
          <a:p>
            <a:pPr algn="l">
              <a:spcAft>
                <a:spcPts val="400"/>
              </a:spcAft>
              <a:defRPr sz="1400">
                <a:solidFill>
                  <a:srgbClr val="F2F7FF"/>
                </a:solidFill>
                <a:latin typeface="Aptos"/>
              </a:defRPr>
            </a:pPr>
            <a:r>
              <a:t>Use this when asking about the bill.</a:t>
            </a:r>
          </a:p>
          <a:p>
            <a:pPr algn="l">
              <a:spcAft>
                <a:spcPts val="400"/>
              </a:spcAft>
            </a:pPr>
          </a:p>
          <a:p>
            <a:pPr algn="l">
              <a:spcAft>
                <a:spcPts val="400"/>
              </a:spcAft>
              <a:defRPr sz="1400">
                <a:solidFill>
                  <a:srgbClr val="F2F7FF"/>
                </a:solidFill>
                <a:latin typeface="Aptos"/>
              </a:defRPr>
            </a:pPr>
            <a:r>
              <a:t>Curious professional means you are interested in their answer because it determines fit.</a:t>
            </a: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Good tones and why they work (3/4)</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400"/>
              </a:spcAft>
            </a:pPr>
          </a:p>
          <a:p>
            <a:pPr algn="l">
              <a:spcAft>
                <a:spcPts val="400"/>
              </a:spcAft>
              <a:defRPr sz="1400">
                <a:solidFill>
                  <a:srgbClr val="F2F7FF"/>
                </a:solidFill>
                <a:latin typeface="Aptos"/>
              </a:defRPr>
            </a:pPr>
            <a:r>
              <a:t>Why it works:</a:t>
            </a:r>
          </a:p>
          <a:p>
            <a:pPr algn="l">
              <a:spcAft>
                <a:spcPts val="400"/>
              </a:spcAft>
              <a:defRPr sz="1400">
                <a:solidFill>
                  <a:srgbClr val="F2F7FF"/>
                </a:solidFill>
                <a:latin typeface="Aptos"/>
              </a:defRPr>
            </a:pPr>
            <a:r>
              <a:t>• It makes the homeowner feel evaluated, not pressured.</a:t>
            </a:r>
          </a:p>
          <a:p>
            <a:pPr algn="l">
              <a:spcAft>
                <a:spcPts val="400"/>
              </a:spcAft>
              <a:defRPr sz="1400">
                <a:solidFill>
                  <a:srgbClr val="F2F7FF"/>
                </a:solidFill>
                <a:latin typeface="Aptos"/>
              </a:defRPr>
            </a:pPr>
            <a:r>
              <a:t>• It reduces embarrassment around bill numbers.</a:t>
            </a:r>
          </a:p>
          <a:p>
            <a:pPr algn="l">
              <a:spcAft>
                <a:spcPts val="400"/>
              </a:spcAft>
              <a:defRPr sz="1400">
                <a:solidFill>
                  <a:srgbClr val="F2F7FF"/>
                </a:solidFill>
                <a:latin typeface="Aptos"/>
              </a:defRPr>
            </a:pPr>
            <a:r>
              <a:t>• It encourages honest answers.</a:t>
            </a:r>
          </a:p>
          <a:p>
            <a:pPr algn="l">
              <a:spcAft>
                <a:spcPts val="400"/>
              </a:spcAft>
              <a:defRPr sz="1400">
                <a:solidFill>
                  <a:srgbClr val="F2F7FF"/>
                </a:solidFill>
                <a:latin typeface="Aptos"/>
              </a:defRPr>
            </a:pPr>
            <a:r>
              <a:t>• It keeps the conversation moving.</a:t>
            </a:r>
          </a:p>
          <a:p>
            <a:pPr algn="l">
              <a:spcAft>
                <a:spcPts val="400"/>
              </a:spcAft>
            </a:pPr>
          </a:p>
          <a:p>
            <a:pPr algn="l">
              <a:spcAft>
                <a:spcPts val="400"/>
              </a:spcAft>
              <a:defRPr sz="1400">
                <a:solidFill>
                  <a:srgbClr val="F2F7FF"/>
                </a:solidFill>
                <a:latin typeface="Aptos"/>
              </a:defRPr>
            </a:pPr>
            <a:r>
              <a:t>What it sounds like:</a:t>
            </a:r>
          </a:p>
          <a:p>
            <a:pPr algn="l">
              <a:spcAft>
                <a:spcPts val="400"/>
              </a:spcAft>
              <a:defRPr sz="1400">
                <a:solidFill>
                  <a:srgbClr val="F2F7FF"/>
                </a:solidFill>
                <a:latin typeface="Aptos"/>
              </a:defRPr>
            </a:pPr>
            <a:r>
              <a:t>• Neutral</a:t>
            </a:r>
          </a:p>
          <a:p>
            <a:pPr algn="l">
              <a:spcAft>
                <a:spcPts val="400"/>
              </a:spcAft>
              <a:defRPr sz="1400">
                <a:solidFill>
                  <a:srgbClr val="F2F7FF"/>
                </a:solidFill>
                <a:latin typeface="Aptos"/>
              </a:defRPr>
            </a:pPr>
            <a:r>
              <a:t>• Open</a:t>
            </a:r>
          </a:p>
          <a:p>
            <a:pPr algn="l">
              <a:spcAft>
                <a:spcPts val="400"/>
              </a:spcAft>
              <a:defRPr sz="1400">
                <a:solidFill>
                  <a:srgbClr val="F2F7FF"/>
                </a:solidFill>
                <a:latin typeface="Aptos"/>
              </a:defRPr>
            </a:pPr>
            <a:r>
              <a:t>• Non-judgmental</a:t>
            </a:r>
          </a:p>
          <a:p>
            <a:pPr algn="l">
              <a:spcAft>
                <a:spcPts val="400"/>
              </a:spcAft>
              <a:defRPr sz="1400">
                <a:solidFill>
                  <a:srgbClr val="F2F7FF"/>
                </a:solidFill>
                <a:latin typeface="Aptos"/>
              </a:defRPr>
            </a:pPr>
            <a:r>
              <a:t>• Calm after they answer</a:t>
            </a:r>
          </a:p>
          <a:p>
            <a:pPr algn="l">
              <a:spcAft>
                <a:spcPts val="400"/>
              </a:spcAft>
            </a:pP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600"/>
              </a:spcAft>
              <a:defRPr b="1" sz="1500">
                <a:solidFill>
                  <a:srgbClr val="E6B85C"/>
                </a:solidFill>
                <a:latin typeface="Aptos"/>
              </a:defRPr>
            </a:pPr>
            <a:r>
              <a:t>Assumptive logistics</a:t>
            </a:r>
          </a:p>
          <a:p>
            <a:pPr algn="l">
              <a:spcAft>
                <a:spcPts val="400"/>
              </a:spcAft>
              <a:defRPr sz="1400">
                <a:solidFill>
                  <a:srgbClr val="F2F7FF"/>
                </a:solidFill>
                <a:latin typeface="Aptos"/>
              </a:defRPr>
            </a:pPr>
            <a:r>
              <a:t>Use this when setting the appointment.</a:t>
            </a:r>
          </a:p>
          <a:p>
            <a:pPr algn="l">
              <a:spcAft>
                <a:spcPts val="400"/>
              </a:spcAft>
            </a:pPr>
          </a:p>
          <a:p>
            <a:pPr algn="l">
              <a:spcAft>
                <a:spcPts val="400"/>
              </a:spcAft>
              <a:defRPr sz="1400">
                <a:solidFill>
                  <a:srgbClr val="F2F7FF"/>
                </a:solidFill>
                <a:latin typeface="Aptos"/>
              </a:defRPr>
            </a:pPr>
            <a:r>
              <a:t>Assumptive logistics means you speak as if scheduling is the natural next step once there is a fit.</a:t>
            </a:r>
          </a:p>
          <a:p>
            <a:pPr algn="l">
              <a:spcAft>
                <a:spcPts val="400"/>
              </a:spcAft>
            </a:pPr>
          </a:p>
          <a:p>
            <a:pPr algn="l">
              <a:spcAft>
                <a:spcPts val="400"/>
              </a:spcAft>
              <a:defRPr sz="1400">
                <a:solidFill>
                  <a:srgbClr val="F2F7FF"/>
                </a:solidFill>
                <a:latin typeface="Aptos"/>
              </a:defRPr>
            </a:pPr>
            <a:r>
              <a:t>Why it works:</a:t>
            </a: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Good tones and why they work (4/4)</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 It removes awkwardness from the close.</a:t>
            </a:r>
          </a:p>
          <a:p>
            <a:pPr algn="l">
              <a:spcAft>
                <a:spcPts val="400"/>
              </a:spcAft>
              <a:defRPr sz="1600">
                <a:solidFill>
                  <a:srgbClr val="F2F7FF"/>
                </a:solidFill>
                <a:latin typeface="Aptos"/>
              </a:defRPr>
            </a:pPr>
            <a:r>
              <a:t>• It keeps the homeowner from drifting into "I'll think about it."</a:t>
            </a:r>
          </a:p>
          <a:p>
            <a:pPr algn="l">
              <a:spcAft>
                <a:spcPts val="400"/>
              </a:spcAft>
              <a:defRPr sz="1600">
                <a:solidFill>
                  <a:srgbClr val="F2F7FF"/>
                </a:solidFill>
                <a:latin typeface="Aptos"/>
              </a:defRPr>
            </a:pPr>
            <a:r>
              <a:t>• It makes the appointment feel simple and normal.</a:t>
            </a:r>
          </a:p>
          <a:p>
            <a:pPr algn="l">
              <a:spcAft>
                <a:spcPts val="400"/>
              </a:spcAft>
            </a:pPr>
          </a:p>
          <a:p>
            <a:pPr algn="l">
              <a:spcAft>
                <a:spcPts val="400"/>
              </a:spcAft>
              <a:defRPr sz="1600">
                <a:solidFill>
                  <a:srgbClr val="F2F7FF"/>
                </a:solidFill>
                <a:latin typeface="Aptos"/>
              </a:defRPr>
            </a:pPr>
            <a:r>
              <a:t>What it sounds like:</a:t>
            </a:r>
          </a:p>
          <a:p>
            <a:pPr algn="l">
              <a:spcAft>
                <a:spcPts val="400"/>
              </a:spcAft>
              <a:defRPr sz="1600">
                <a:solidFill>
                  <a:srgbClr val="F2F7FF"/>
                </a:solidFill>
                <a:latin typeface="Aptos"/>
              </a:defRPr>
            </a:pPr>
            <a:r>
              <a:t>• Practical</a:t>
            </a:r>
          </a:p>
          <a:p>
            <a:pPr algn="l">
              <a:spcAft>
                <a:spcPts val="400"/>
              </a:spcAft>
              <a:defRPr sz="1600">
                <a:solidFill>
                  <a:srgbClr val="F2F7FF"/>
                </a:solidFill>
                <a:latin typeface="Aptos"/>
              </a:defRPr>
            </a:pPr>
            <a:r>
              <a:t>• Direct</a:t>
            </a:r>
          </a:p>
          <a:p>
            <a:pPr algn="l">
              <a:spcAft>
                <a:spcPts val="400"/>
              </a:spcAft>
              <a:defRPr sz="1600">
                <a:solidFill>
                  <a:srgbClr val="F2F7FF"/>
                </a:solidFill>
                <a:latin typeface="Aptos"/>
              </a:defRPr>
            </a:pPr>
            <a:r>
              <a:t>• Clear</a:t>
            </a:r>
          </a:p>
          <a:p>
            <a:pPr algn="l">
              <a:spcAft>
                <a:spcPts val="400"/>
              </a:spcAft>
              <a:defRPr sz="1600">
                <a:solidFill>
                  <a:srgbClr val="F2F7FF"/>
                </a:solidFill>
                <a:latin typeface="Aptos"/>
              </a:defRPr>
            </a:pPr>
            <a:r>
              <a:t>• Not forceful</a:t>
            </a:r>
          </a:p>
          <a:p>
            <a:pPr algn="l">
              <a:spcAft>
                <a:spcPts val="400"/>
              </a:spcAft>
            </a:pPr>
          </a:p>
          <a:p>
            <a:pPr algn="l">
              <a:spcAft>
                <a:spcPts val="400"/>
              </a:spcAft>
              <a:defRPr sz="1600">
                <a:solidFill>
                  <a:srgbClr val="F2F7FF"/>
                </a:solidFill>
                <a:latin typeface="Aptos"/>
              </a:defRPr>
            </a:pPr>
            <a:r>
              <a:t>The best tone is controlled, clear, and human.</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11) Body Language: Professional Presence at the Door</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Body language tells the homeowner whether you are safe, confident, and worth listening to before they fully hear your words.</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Positioning</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Stand one half-step back after knocking. This gives the homeowner space and reduces the feeling of pressure.</a:t>
            </a:r>
          </a:p>
          <a:p>
            <a:pPr algn="l">
              <a:spcAft>
                <a:spcPts val="400"/>
              </a:spcAft>
            </a:pPr>
          </a:p>
          <a:p>
            <a:pPr algn="l">
              <a:spcAft>
                <a:spcPts val="400"/>
              </a:spcAft>
              <a:defRPr sz="1600">
                <a:solidFill>
                  <a:srgbClr val="F2F7FF"/>
                </a:solidFill>
                <a:latin typeface="Aptos"/>
              </a:defRPr>
            </a:pPr>
            <a:r>
              <a:t>Keep your feet stable, body slightly angled, shoulders relaxed, and hands visible. Hold your tablet or folder low so it does not become a barrier between you and the homeowner. Do not lean into the doorway, stand too close, or square up like a confrontation.</a:t>
            </a:r>
          </a:p>
          <a:p>
            <a:pPr algn="l">
              <a:spcAft>
                <a:spcPts val="400"/>
              </a:spcAft>
            </a:pPr>
          </a:p>
          <a:p>
            <a:pPr algn="l">
              <a:spcAft>
                <a:spcPts val="400"/>
              </a:spcAft>
              <a:defRPr sz="1600">
                <a:solidFill>
                  <a:srgbClr val="F2F7FF"/>
                </a:solidFill>
                <a:latin typeface="Aptos"/>
              </a:defRPr>
            </a:pPr>
            <a:r>
              <a:t>Why this matters:</a:t>
            </a:r>
          </a:p>
          <a:p>
            <a:pPr algn="l">
              <a:spcAft>
                <a:spcPts val="400"/>
              </a:spcAft>
              <a:defRPr sz="1600">
                <a:solidFill>
                  <a:srgbClr val="F2F7FF"/>
                </a:solidFill>
                <a:latin typeface="Aptos"/>
              </a:defRPr>
            </a:pPr>
            <a:r>
              <a:t>The doorway is the homeowner's personal space. If you crowd that space, their guard goes up. If you respect that space, they are more likely to hear you.</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Eye contact</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Hold eye contact long enough to show confidence, but not so much that it feels intense.</a:t>
            </a:r>
          </a:p>
          <a:p>
            <a:pPr algn="l">
              <a:spcAft>
                <a:spcPts val="400"/>
              </a:spcAft>
            </a:pPr>
          </a:p>
          <a:p>
            <a:pPr algn="l">
              <a:spcAft>
                <a:spcPts val="400"/>
              </a:spcAft>
              <a:defRPr sz="1600">
                <a:solidFill>
                  <a:srgbClr val="F2F7FF"/>
                </a:solidFill>
                <a:latin typeface="Aptos"/>
              </a:defRPr>
            </a:pPr>
            <a:r>
              <a:t>Look at them when asking a question, glance briefly toward the local anchor when pointing, then return your attention to them after they respond. Do not stare, look down the whole time, look past them into the house, or scan the property while talking.</a:t>
            </a:r>
          </a:p>
          <a:p>
            <a:pPr algn="l">
              <a:spcAft>
                <a:spcPts val="400"/>
              </a:spcAft>
            </a:pPr>
          </a:p>
          <a:p>
            <a:pPr algn="l">
              <a:spcAft>
                <a:spcPts val="400"/>
              </a:spcAft>
              <a:defRPr sz="1600">
                <a:solidFill>
                  <a:srgbClr val="F2F7FF"/>
                </a:solidFill>
                <a:latin typeface="Aptos"/>
              </a:defRPr>
            </a:pPr>
            <a:r>
              <a:t>Why this matters:</a:t>
            </a:r>
          </a:p>
          <a:p>
            <a:pPr algn="l">
              <a:spcAft>
                <a:spcPts val="400"/>
              </a:spcAft>
              <a:defRPr sz="1600">
                <a:solidFill>
                  <a:srgbClr val="F2F7FF"/>
                </a:solidFill>
                <a:latin typeface="Aptos"/>
              </a:defRPr>
            </a:pPr>
            <a:r>
              <a:t>Eye contact communicates honesty. Too little looks weak. Too much feels aggressive.</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Hands and gestures</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Use small, purposeful gestures.</a:t>
            </a:r>
          </a:p>
          <a:p>
            <a:pPr algn="l">
              <a:spcAft>
                <a:spcPts val="400"/>
              </a:spcAft>
            </a:pPr>
          </a:p>
          <a:p>
            <a:pPr algn="l">
              <a:spcAft>
                <a:spcPts val="400"/>
              </a:spcAft>
              <a:defRPr sz="1600">
                <a:solidFill>
                  <a:srgbClr val="F2F7FF"/>
                </a:solidFill>
                <a:latin typeface="Aptos"/>
              </a:defRPr>
            </a:pPr>
            <a:r>
              <a:t>Point lightly at the powerlines, use an open palm when explaining, and keep your hands still when asking the bill question. Big gestures, fidgeting, pointing at the homeowner, or crossing your arms can make the interaction feel tense or unprofessional.</a:t>
            </a:r>
          </a:p>
          <a:p>
            <a:pPr algn="l">
              <a:spcAft>
                <a:spcPts val="400"/>
              </a:spcAft>
            </a:pPr>
          </a:p>
          <a:p>
            <a:pPr algn="l">
              <a:spcAft>
                <a:spcPts val="400"/>
              </a:spcAft>
              <a:defRPr sz="1600">
                <a:solidFill>
                  <a:srgbClr val="F2F7FF"/>
                </a:solidFill>
                <a:latin typeface="Aptos"/>
              </a:defRPr>
            </a:pPr>
            <a:r>
              <a:t>Why this matters:</a:t>
            </a:r>
          </a:p>
          <a:p>
            <a:pPr algn="l">
              <a:spcAft>
                <a:spcPts val="400"/>
              </a:spcAft>
              <a:defRPr sz="1600">
                <a:solidFill>
                  <a:srgbClr val="F2F7FF"/>
                </a:solidFill>
                <a:latin typeface="Aptos"/>
              </a:defRPr>
            </a:pPr>
            <a:r>
              <a:t>Fast or excessive movement makes you look nervous. Controlled movement makes you look professional.</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Facial expression</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Use a relaxed, normal expression. A slight smile at the beginning is enough.</a:t>
            </a:r>
          </a:p>
          <a:p>
            <a:pPr algn="l">
              <a:spcAft>
                <a:spcPts val="400"/>
              </a:spcAft>
            </a:pPr>
          </a:p>
          <a:p>
            <a:pPr algn="l">
              <a:spcAft>
                <a:spcPts val="400"/>
              </a:spcAft>
              <a:defRPr sz="1600">
                <a:solidFill>
                  <a:srgbClr val="F2F7FF"/>
                </a:solidFill>
                <a:latin typeface="Aptos"/>
              </a:defRPr>
            </a:pPr>
            <a:r>
              <a:t>Do not over-smile through serious lines about outages and rate increases. That creates a mismatch between message and tone.</a:t>
            </a:r>
          </a:p>
          <a:p>
            <a:pPr algn="l">
              <a:spcAft>
                <a:spcPts val="400"/>
              </a:spcAft>
            </a:pPr>
          </a:p>
          <a:p>
            <a:pPr algn="l">
              <a:spcAft>
                <a:spcPts val="400"/>
              </a:spcAft>
              <a:defRPr sz="1600">
                <a:solidFill>
                  <a:srgbClr val="F2F7FF"/>
                </a:solidFill>
                <a:latin typeface="Aptos"/>
              </a:defRPr>
            </a:pPr>
            <a:r>
              <a:t>Why this matters:</a:t>
            </a:r>
          </a:p>
          <a:p>
            <a:pPr algn="l">
              <a:spcAft>
                <a:spcPts val="400"/>
              </a:spcAft>
              <a:defRPr sz="1600">
                <a:solidFill>
                  <a:srgbClr val="F2F7FF"/>
                </a:solidFill>
                <a:latin typeface="Aptos"/>
              </a:defRPr>
            </a:pPr>
            <a:r>
              <a:t>The homeowner is reading whether you seem congruent. Congruence means your face, tone, and words match.</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12) Pacing: Control the Speed of the Conversation</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Pacing is how fast you speak and where you pause. It determines whether the homeowner can follow you.</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Why pacing matters</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If you speak too fast, the homeowner feels sold. If you speak too slowly, the pitch loses energy. The goal is controlled pace with intentional pauses.</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Where to slow down</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Slow down on:</a:t>
            </a:r>
          </a:p>
          <a:p>
            <a:pPr algn="l">
              <a:spcAft>
                <a:spcPts val="400"/>
              </a:spcAft>
              <a:defRPr sz="1600">
                <a:solidFill>
                  <a:srgbClr val="F2F7FF"/>
                </a:solidFill>
                <a:latin typeface="Aptos"/>
              </a:defRPr>
            </a:pPr>
            <a:r>
              <a:t>• "Does that make sense?"</a:t>
            </a:r>
          </a:p>
          <a:p>
            <a:pPr algn="l">
              <a:spcAft>
                <a:spcPts val="400"/>
              </a:spcAft>
              <a:defRPr sz="1600">
                <a:solidFill>
                  <a:srgbClr val="F2F7FF"/>
                </a:solidFill>
                <a:latin typeface="Aptos"/>
              </a:defRPr>
            </a:pPr>
            <a:r>
              <a:t>• "Duke is increasing rates..."</a:t>
            </a:r>
          </a:p>
          <a:p>
            <a:pPr algn="l">
              <a:spcAft>
                <a:spcPts val="400"/>
              </a:spcAft>
              <a:defRPr sz="1600">
                <a:solidFill>
                  <a:srgbClr val="F2F7FF"/>
                </a:solidFill>
                <a:latin typeface="Aptos"/>
              </a:defRPr>
            </a:pPr>
            <a:r>
              <a:t>• "Paying more money for the same amount of power."</a:t>
            </a:r>
          </a:p>
          <a:p>
            <a:pPr algn="l">
              <a:spcAft>
                <a:spcPts val="400"/>
              </a:spcAft>
              <a:defRPr sz="1600">
                <a:solidFill>
                  <a:srgbClr val="F2F7FF"/>
                </a:solidFill>
                <a:latin typeface="Aptos"/>
              </a:defRPr>
            </a:pPr>
            <a:r>
              <a:t>• "If we can get you..."</a:t>
            </a:r>
          </a:p>
          <a:p>
            <a:pPr algn="l">
              <a:spcAft>
                <a:spcPts val="400"/>
              </a:spcAft>
              <a:defRPr sz="1600">
                <a:solidFill>
                  <a:srgbClr val="F2F7FF"/>
                </a:solidFill>
                <a:latin typeface="Aptos"/>
              </a:defRPr>
            </a:pPr>
            <a:r>
              <a:t>• "What's the lowest your Duke bill gets?"</a:t>
            </a:r>
          </a:p>
          <a:p>
            <a:pPr algn="l">
              <a:spcAft>
                <a:spcPts val="400"/>
              </a:spcAft>
            </a:pPr>
          </a:p>
          <a:p>
            <a:pPr algn="l">
              <a:spcAft>
                <a:spcPts val="400"/>
              </a:spcAft>
              <a:defRPr sz="1600">
                <a:solidFill>
                  <a:srgbClr val="F2F7FF"/>
                </a:solidFill>
                <a:latin typeface="Aptos"/>
              </a:defRPr>
            </a:pPr>
            <a:r>
              <a:t>These lines need processing time.</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Where to stay quick</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Stay quick on:</a:t>
            </a:r>
          </a:p>
          <a:p>
            <a:pPr algn="l">
              <a:spcAft>
                <a:spcPts val="400"/>
              </a:spcAft>
              <a:defRPr sz="1600">
                <a:solidFill>
                  <a:srgbClr val="F2F7FF"/>
                </a:solidFill>
                <a:latin typeface="Aptos"/>
              </a:defRPr>
            </a:pPr>
            <a:r>
              <a:t>• "Hey listen, I don't have much time."</a:t>
            </a:r>
          </a:p>
          <a:p>
            <a:pPr algn="l">
              <a:spcAft>
                <a:spcPts val="400"/>
              </a:spcAft>
              <a:defRPr sz="1600">
                <a:solidFill>
                  <a:srgbClr val="F2F7FF"/>
                </a:solidFill>
                <a:latin typeface="Aptos"/>
              </a:defRPr>
            </a:pPr>
            <a:r>
              <a:t>• The transition into the local anchor.</a:t>
            </a:r>
          </a:p>
          <a:p>
            <a:pPr algn="l">
              <a:spcAft>
                <a:spcPts val="400"/>
              </a:spcAft>
              <a:defRPr sz="1600">
                <a:solidFill>
                  <a:srgbClr val="F2F7FF"/>
                </a:solidFill>
                <a:latin typeface="Aptos"/>
              </a:defRPr>
            </a:pPr>
            <a:r>
              <a:t>• Short acknowledgments like "Got it" or "Exactly."</a:t>
            </a:r>
          </a:p>
          <a:p>
            <a:pPr algn="l">
              <a:spcAft>
                <a:spcPts val="400"/>
              </a:spcAft>
            </a:pPr>
          </a:p>
          <a:p>
            <a:pPr algn="l">
              <a:spcAft>
                <a:spcPts val="400"/>
              </a:spcAft>
              <a:defRPr sz="1600">
                <a:solidFill>
                  <a:srgbClr val="F2F7FF"/>
                </a:solidFill>
                <a:latin typeface="Aptos"/>
              </a:defRPr>
            </a:pPr>
            <a:r>
              <a:t>These lines should feel light and conversational.</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The professional pause</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Pause after:</a:t>
            </a:r>
          </a:p>
          <a:p>
            <a:pPr algn="l">
              <a:spcAft>
                <a:spcPts val="400"/>
              </a:spcAft>
              <a:defRPr sz="1600">
                <a:solidFill>
                  <a:srgbClr val="F2F7FF"/>
                </a:solidFill>
                <a:latin typeface="Aptos"/>
              </a:defRPr>
            </a:pPr>
            <a:r>
              <a:t>• Asking "Does that make sense?"</a:t>
            </a:r>
          </a:p>
          <a:p>
            <a:pPr algn="l">
              <a:spcAft>
                <a:spcPts val="400"/>
              </a:spcAft>
              <a:defRPr sz="1600">
                <a:solidFill>
                  <a:srgbClr val="F2F7FF"/>
                </a:solidFill>
                <a:latin typeface="Aptos"/>
              </a:defRPr>
            </a:pPr>
            <a:r>
              <a:t>• Mentioning rate increases.</a:t>
            </a:r>
          </a:p>
          <a:p>
            <a:pPr algn="l">
              <a:spcAft>
                <a:spcPts val="400"/>
              </a:spcAft>
              <a:defRPr sz="1600">
                <a:solidFill>
                  <a:srgbClr val="F2F7FF"/>
                </a:solidFill>
                <a:latin typeface="Aptos"/>
              </a:defRPr>
            </a:pPr>
            <a:r>
              <a:t>• Asking the bill question.</a:t>
            </a:r>
          </a:p>
          <a:p>
            <a:pPr algn="l">
              <a:spcAft>
                <a:spcPts val="400"/>
              </a:spcAft>
              <a:defRPr sz="1600">
                <a:solidFill>
                  <a:srgbClr val="F2F7FF"/>
                </a:solidFill>
                <a:latin typeface="Aptos"/>
              </a:defRPr>
            </a:pPr>
            <a:r>
              <a:t>• Hearing a high bill number.</a:t>
            </a:r>
          </a:p>
          <a:p>
            <a:pPr algn="l">
              <a:spcAft>
                <a:spcPts val="400"/>
              </a:spcAft>
            </a:pPr>
          </a:p>
          <a:p>
            <a:pPr algn="l">
              <a:spcAft>
                <a:spcPts val="400"/>
              </a:spcAft>
              <a:defRPr sz="1600">
                <a:solidFill>
                  <a:srgbClr val="F2F7FF"/>
                </a:solidFill>
                <a:latin typeface="Aptos"/>
              </a:defRPr>
            </a:pPr>
            <a:r>
              <a:t>A pause shows confidence. It also gives the homeowner room to respond.</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Bad pacing patterns</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 Rushing the entire pitch.</a:t>
            </a:r>
          </a:p>
          <a:p>
            <a:pPr algn="l">
              <a:spcAft>
                <a:spcPts val="400"/>
              </a:spcAft>
              <a:defRPr sz="1600">
                <a:solidFill>
                  <a:srgbClr val="F2F7FF"/>
                </a:solidFill>
                <a:latin typeface="Aptos"/>
              </a:defRPr>
            </a:pPr>
            <a:r>
              <a:t>• Pausing after every word like a performance.</a:t>
            </a:r>
          </a:p>
          <a:p>
            <a:pPr algn="l">
              <a:spcAft>
                <a:spcPts val="400"/>
              </a:spcAft>
              <a:defRPr sz="1600">
                <a:solidFill>
                  <a:srgbClr val="F2F7FF"/>
                </a:solidFill>
                <a:latin typeface="Aptos"/>
              </a:defRPr>
            </a:pPr>
            <a:r>
              <a:t>• Cutting off the homeowner's answer.</a:t>
            </a:r>
          </a:p>
          <a:p>
            <a:pPr algn="l">
              <a:spcAft>
                <a:spcPts val="400"/>
              </a:spcAft>
              <a:defRPr sz="1600">
                <a:solidFill>
                  <a:srgbClr val="F2F7FF"/>
                </a:solidFill>
                <a:latin typeface="Aptos"/>
              </a:defRPr>
            </a:pPr>
            <a:r>
              <a:t>• Speeding up when nervous.</a:t>
            </a:r>
          </a:p>
          <a:p>
            <a:pPr algn="l">
              <a:spcAft>
                <a:spcPts val="400"/>
              </a:spcAft>
              <a:defRPr sz="1600">
                <a:solidFill>
                  <a:srgbClr val="F2F7FF"/>
                </a:solidFill>
                <a:latin typeface="Aptos"/>
              </a:defRPr>
            </a:pPr>
            <a:r>
              <a:t>• Repeating the question before they answer.</a:t>
            </a:r>
          </a:p>
          <a:p>
            <a:pPr algn="l">
              <a:spcAft>
                <a:spcPts val="400"/>
              </a:spcAft>
            </a:pPr>
          </a:p>
          <a:p>
            <a:pPr algn="l">
              <a:spcAft>
                <a:spcPts val="400"/>
              </a:spcAft>
              <a:defRPr sz="1600">
                <a:solidFill>
                  <a:srgbClr val="F2F7FF"/>
                </a:solidFill>
                <a:latin typeface="Aptos"/>
              </a:defRPr>
            </a:pPr>
            <a:r>
              <a:t>Control your pace and the conversation feels controlled.</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13) Diction: Say Less, Say It Cleaner</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Diction is word choice and clarity. Better diction makes you sound more professional without sounding stiff.</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Speak in plain language</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Homeowners do not need technical program language at the door. They need a clear reason to continue.</a:t>
            </a:r>
          </a:p>
          <a:p>
            <a:pPr algn="l">
              <a:spcAft>
                <a:spcPts val="400"/>
              </a:spcAft>
            </a:pPr>
          </a:p>
          <a:p>
            <a:pPr algn="l">
              <a:spcAft>
                <a:spcPts val="400"/>
              </a:spcAft>
              <a:defRPr sz="1600">
                <a:solidFill>
                  <a:srgbClr val="F2F7FF"/>
                </a:solidFill>
                <a:latin typeface="Aptos"/>
              </a:defRPr>
            </a:pPr>
            <a:r>
              <a:t>Use plain bill language: the power they already use, what they already pay, and whether the numbers make sense. Technical terms can come later. At the door, clarity wins.</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Remove filler words</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Too many filler words make you sound unsure.</a:t>
            </a:r>
          </a:p>
          <a:p>
            <a:pPr algn="l">
              <a:spcAft>
                <a:spcPts val="400"/>
              </a:spcAft>
            </a:pPr>
          </a:p>
          <a:p>
            <a:pPr algn="l">
              <a:spcAft>
                <a:spcPts val="400"/>
              </a:spcAft>
              <a:defRPr sz="1600">
                <a:solidFill>
                  <a:srgbClr val="F2F7FF"/>
                </a:solidFill>
                <a:latin typeface="Aptos"/>
              </a:defRPr>
            </a:pPr>
            <a:r>
              <a:t>Avoid overusing:</a:t>
            </a:r>
          </a:p>
          <a:p>
            <a:pPr algn="l">
              <a:spcAft>
                <a:spcPts val="400"/>
              </a:spcAft>
              <a:defRPr sz="1600">
                <a:solidFill>
                  <a:srgbClr val="F2F7FF"/>
                </a:solidFill>
                <a:latin typeface="Aptos"/>
              </a:defRPr>
            </a:pPr>
            <a:r>
              <a:t>• "Honestly"</a:t>
            </a:r>
          </a:p>
          <a:p>
            <a:pPr algn="l">
              <a:spcAft>
                <a:spcPts val="400"/>
              </a:spcAft>
              <a:defRPr sz="1600">
                <a:solidFill>
                  <a:srgbClr val="F2F7FF"/>
                </a:solidFill>
                <a:latin typeface="Aptos"/>
              </a:defRPr>
            </a:pPr>
            <a:r>
              <a:t>• "Basically"</a:t>
            </a:r>
          </a:p>
          <a:p>
            <a:pPr algn="l">
              <a:spcAft>
                <a:spcPts val="400"/>
              </a:spcAft>
              <a:defRPr sz="1600">
                <a:solidFill>
                  <a:srgbClr val="F2F7FF"/>
                </a:solidFill>
                <a:latin typeface="Aptos"/>
              </a:defRPr>
            </a:pPr>
            <a:r>
              <a:t>• "Like"</a:t>
            </a:r>
          </a:p>
          <a:p>
            <a:pPr algn="l">
              <a:spcAft>
                <a:spcPts val="400"/>
              </a:spcAft>
              <a:defRPr sz="1600">
                <a:solidFill>
                  <a:srgbClr val="F2F7FF"/>
                </a:solidFill>
                <a:latin typeface="Aptos"/>
              </a:defRPr>
            </a:pPr>
            <a:r>
              <a:t>• "You know"</a:t>
            </a:r>
          </a:p>
          <a:p>
            <a:pPr algn="l">
              <a:spcAft>
                <a:spcPts val="400"/>
              </a:spcAft>
              <a:defRPr sz="1600">
                <a:solidFill>
                  <a:srgbClr val="F2F7FF"/>
                </a:solidFill>
                <a:latin typeface="Aptos"/>
              </a:defRPr>
            </a:pPr>
            <a:r>
              <a:t>• "I mean"</a:t>
            </a:r>
          </a:p>
          <a:p>
            <a:pPr algn="l">
              <a:spcAft>
                <a:spcPts val="400"/>
              </a:spcAft>
              <a:defRPr sz="1600">
                <a:solidFill>
                  <a:srgbClr val="F2F7FF"/>
                </a:solidFill>
                <a:latin typeface="Aptos"/>
              </a:defRPr>
            </a:pPr>
            <a:r>
              <a:t>• "Kind of"</a:t>
            </a:r>
          </a:p>
          <a:p>
            <a:pPr algn="l">
              <a:spcAft>
                <a:spcPts val="400"/>
              </a:spcAft>
            </a:pPr>
          </a:p>
          <a:p>
            <a:pPr algn="l">
              <a:spcAft>
                <a:spcPts val="400"/>
              </a:spcAft>
              <a:defRPr sz="1600">
                <a:solidFill>
                  <a:srgbClr val="F2F7FF"/>
                </a:solidFill>
                <a:latin typeface="Aptos"/>
              </a:defRPr>
            </a:pPr>
            <a:r>
              <a:t>You do not need to sound perfect. You need to sound clear.</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Use confident but honest language</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Professional setters do not overpromise.</a:t>
            </a:r>
          </a:p>
          <a:p>
            <a:pPr algn="l">
              <a:spcAft>
                <a:spcPts val="400"/>
              </a:spcAft>
            </a:pPr>
          </a:p>
          <a:p>
            <a:pPr algn="l">
              <a:spcAft>
                <a:spcPts val="400"/>
              </a:spcAft>
              <a:defRPr sz="1600">
                <a:solidFill>
                  <a:srgbClr val="F2F7FF"/>
                </a:solidFill>
                <a:latin typeface="Aptos"/>
              </a:defRPr>
            </a:pPr>
            <a:r>
              <a:t>Language like "if the numbers make sense," "if your usage qualifies," and "if it does not help, we will tell you" builds trust because it sounds measured and honest. Hard promises, guaranteed savings, or pressure language make the homeowner skeptical.</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Use homeowner language</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Mirror simple words the homeowner uses.</a:t>
            </a:r>
          </a:p>
          <a:p>
            <a:pPr algn="l">
              <a:spcAft>
                <a:spcPts val="400"/>
              </a:spcAft>
            </a:pPr>
          </a:p>
          <a:p>
            <a:pPr algn="l">
              <a:spcAft>
                <a:spcPts val="400"/>
              </a:spcAft>
              <a:defRPr sz="1600">
                <a:solidFill>
                  <a:srgbClr val="F2F7FF"/>
                </a:solidFill>
                <a:latin typeface="Aptos"/>
              </a:defRPr>
            </a:pPr>
            <a:r>
              <a:t>If they say:</a:t>
            </a:r>
          </a:p>
          <a:p>
            <a:pPr algn="l">
              <a:spcAft>
                <a:spcPts val="400"/>
              </a:spcAft>
              <a:defRPr sz="1600">
                <a:solidFill>
                  <a:srgbClr val="F2F7FF"/>
                </a:solidFill>
                <a:latin typeface="Aptos"/>
              </a:defRPr>
            </a:pPr>
            <a:r>
              <a:t>"Our bill has been crazy."</a:t>
            </a:r>
          </a:p>
          <a:p>
            <a:pPr algn="l">
              <a:spcAft>
                <a:spcPts val="400"/>
              </a:spcAft>
            </a:pPr>
          </a:p>
          <a:p>
            <a:pPr algn="l">
              <a:spcAft>
                <a:spcPts val="400"/>
              </a:spcAft>
              <a:defRPr sz="1600">
                <a:solidFill>
                  <a:srgbClr val="F2F7FF"/>
                </a:solidFill>
                <a:latin typeface="Aptos"/>
              </a:defRPr>
            </a:pPr>
            <a:r>
              <a:t>You can say:</a:t>
            </a:r>
          </a:p>
          <a:p>
            <a:pPr algn="l">
              <a:spcAft>
                <a:spcPts val="400"/>
              </a:spcAft>
              <a:defRPr sz="1600">
                <a:solidFill>
                  <a:srgbClr val="F2F7FF"/>
                </a:solidFill>
                <a:latin typeface="Aptos"/>
              </a:defRPr>
            </a:pPr>
            <a:r>
              <a:t>"That's exactly what people around here mean when they say Duke has been getting expensive."</a:t>
            </a:r>
          </a:p>
          <a:p>
            <a:pPr algn="l">
              <a:spcAft>
                <a:spcPts val="400"/>
              </a:spcAft>
            </a:pPr>
          </a:p>
          <a:p>
            <a:pPr algn="l">
              <a:spcAft>
                <a:spcPts val="400"/>
              </a:spcAft>
              <a:defRPr sz="1600">
                <a:solidFill>
                  <a:srgbClr val="F2F7FF"/>
                </a:solidFill>
                <a:latin typeface="Aptos"/>
              </a:defRPr>
            </a:pPr>
            <a:r>
              <a:t>Do not correct their wording. Build on it.</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14) Rapport: Sound Human Without Losing Control</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Rapport is not small talk for the sake of small talk. Rapport is the homeowner feeling that you are normal, respectful, and paying attention.</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Fast rapport formula</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1. Respect their time.</a:t>
            </a:r>
          </a:p>
          <a:p>
            <a:pPr algn="l">
              <a:spcAft>
                <a:spcPts val="400"/>
              </a:spcAft>
              <a:defRPr sz="1600">
                <a:solidFill>
                  <a:srgbClr val="F2F7FF"/>
                </a:solidFill>
                <a:latin typeface="Aptos"/>
              </a:defRPr>
            </a:pPr>
            <a:r>
              <a:t>2. Use something local and visible.</a:t>
            </a:r>
          </a:p>
          <a:p>
            <a:pPr algn="l">
              <a:spcAft>
                <a:spcPts val="400"/>
              </a:spcAft>
              <a:defRPr sz="1600">
                <a:solidFill>
                  <a:srgbClr val="F2F7FF"/>
                </a:solidFill>
                <a:latin typeface="Aptos"/>
              </a:defRPr>
            </a:pPr>
            <a:r>
              <a:t>3. Ask an easy question.</a:t>
            </a:r>
          </a:p>
          <a:p>
            <a:pPr algn="l">
              <a:spcAft>
                <a:spcPts val="400"/>
              </a:spcAft>
              <a:defRPr sz="1600">
                <a:solidFill>
                  <a:srgbClr val="F2F7FF"/>
                </a:solidFill>
                <a:latin typeface="Aptos"/>
              </a:defRPr>
            </a:pPr>
            <a:r>
              <a:t>4. Acknowledge their response.</a:t>
            </a:r>
          </a:p>
          <a:p>
            <a:pPr algn="l">
              <a:spcAft>
                <a:spcPts val="400"/>
              </a:spcAft>
              <a:defRPr sz="1600">
                <a:solidFill>
                  <a:srgbClr val="F2F7FF"/>
                </a:solidFill>
                <a:latin typeface="Aptos"/>
              </a:defRPr>
            </a:pPr>
            <a:r>
              <a:t>5. Connect the problem to their bill.</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How to acknowledge without derailing</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Use short acknowledgments:</a:t>
            </a:r>
          </a:p>
          <a:p>
            <a:pPr algn="l">
              <a:spcAft>
                <a:spcPts val="400"/>
              </a:spcAft>
              <a:defRPr sz="1600">
                <a:solidFill>
                  <a:srgbClr val="F2F7FF"/>
                </a:solidFill>
                <a:latin typeface="Aptos"/>
              </a:defRPr>
            </a:pPr>
            <a:r>
              <a:t>• "Exactly."</a:t>
            </a:r>
          </a:p>
          <a:p>
            <a:pPr algn="l">
              <a:spcAft>
                <a:spcPts val="400"/>
              </a:spcAft>
              <a:defRPr sz="1600">
                <a:solidFill>
                  <a:srgbClr val="F2F7FF"/>
                </a:solidFill>
                <a:latin typeface="Aptos"/>
              </a:defRPr>
            </a:pPr>
            <a:r>
              <a:t>• "That makes sense."</a:t>
            </a:r>
          </a:p>
          <a:p>
            <a:pPr algn="l">
              <a:spcAft>
                <a:spcPts val="400"/>
              </a:spcAft>
              <a:defRPr sz="1600">
                <a:solidFill>
                  <a:srgbClr val="F2F7FF"/>
                </a:solidFill>
                <a:latin typeface="Aptos"/>
              </a:defRPr>
            </a:pPr>
            <a:r>
              <a:t>• "A lot of people here said the same thing."</a:t>
            </a:r>
          </a:p>
          <a:p>
            <a:pPr algn="l">
              <a:spcAft>
                <a:spcPts val="400"/>
              </a:spcAft>
              <a:defRPr sz="1600">
                <a:solidFill>
                  <a:srgbClr val="F2F7FF"/>
                </a:solidFill>
                <a:latin typeface="Aptos"/>
              </a:defRPr>
            </a:pPr>
            <a:r>
              <a:t>• "Got it."</a:t>
            </a:r>
          </a:p>
          <a:p>
            <a:pPr algn="l">
              <a:spcAft>
                <a:spcPts val="400"/>
              </a:spcAft>
              <a:defRPr sz="1600">
                <a:solidFill>
                  <a:srgbClr val="F2F7FF"/>
                </a:solidFill>
                <a:latin typeface="Aptos"/>
              </a:defRPr>
            </a:pPr>
            <a:r>
              <a:t>• "Fair."</a:t>
            </a:r>
          </a:p>
          <a:p>
            <a:pPr algn="l">
              <a:spcAft>
                <a:spcPts val="400"/>
              </a:spcAft>
              <a:defRPr sz="1600">
                <a:solidFill>
                  <a:srgbClr val="F2F7FF"/>
                </a:solidFill>
                <a:latin typeface="Aptos"/>
              </a:defRPr>
            </a:pPr>
            <a:r>
              <a:t>• "That is why I ask."</a:t>
            </a:r>
          </a:p>
          <a:p>
            <a:pPr algn="l">
              <a:spcAft>
                <a:spcPts val="400"/>
              </a:spcAft>
            </a:pPr>
          </a:p>
          <a:p>
            <a:pPr algn="l">
              <a:spcAft>
                <a:spcPts val="400"/>
              </a:spcAft>
              <a:defRPr sz="1600">
                <a:solidFill>
                  <a:srgbClr val="F2F7FF"/>
                </a:solidFill>
                <a:latin typeface="Aptos"/>
              </a:defRPr>
            </a:pPr>
            <a:r>
              <a:t>Then continue the structure.</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Example</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Homeowner: "We were out of power for almost three days."</a:t>
            </a:r>
          </a:p>
          <a:p>
            <a:pPr algn="l">
              <a:spcAft>
                <a:spcPts val="400"/>
              </a:spcAft>
            </a:pPr>
          </a:p>
          <a:p>
            <a:pPr algn="l">
              <a:spcAft>
                <a:spcPts val="400"/>
              </a:spcAft>
              <a:defRPr sz="1600">
                <a:solidFill>
                  <a:srgbClr val="F2F7FF"/>
                </a:solidFill>
                <a:latin typeface="Aptos"/>
              </a:defRPr>
            </a:pPr>
            <a:r>
              <a:t>Setter: "Yeah, that's exactly why this has been such a big topic here. The frustrating part is the upgrades are showing up in the rates."</a:t>
            </a:r>
          </a:p>
          <a:p>
            <a:pPr algn="l">
              <a:spcAft>
                <a:spcPts val="400"/>
              </a:spcAft>
            </a:pPr>
          </a:p>
          <a:p>
            <a:pPr algn="l">
              <a:spcAft>
                <a:spcPts val="400"/>
              </a:spcAft>
              <a:defRPr sz="1600">
                <a:solidFill>
                  <a:srgbClr val="F2F7FF"/>
                </a:solidFill>
                <a:latin typeface="Aptos"/>
              </a:defRPr>
            </a:pPr>
            <a:r>
              <a:t>That response builds rapport and returns to the Problem.</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What not to do</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Do not turn rapport into a long side conversation. If the homeowner opens up, acknowledge it and guide back.</a:t>
            </a:r>
          </a:p>
          <a:p>
            <a:pPr algn="l">
              <a:spcAft>
                <a:spcPts val="400"/>
              </a:spcAft>
            </a:pPr>
          </a:p>
          <a:p>
            <a:pPr algn="l">
              <a:spcAft>
                <a:spcPts val="400"/>
              </a:spcAft>
              <a:defRPr sz="1600">
                <a:solidFill>
                  <a:srgbClr val="F2F7FF"/>
                </a:solidFill>
                <a:latin typeface="Aptos"/>
              </a:defRPr>
            </a:pPr>
            <a:r>
              <a:t>Rapport should support the pitch, not replace it.</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15) Micro-Agreements and Conversation Control</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Micro-agreements are small moments where the homeowner agrees, nods, answers, or follows your direction.</a:t>
            </a:r>
          </a:p>
          <a:p>
            <a:pPr algn="l">
              <a:spcAft>
                <a:spcPts val="400"/>
              </a:spcAft>
            </a:pPr>
          </a:p>
          <a:p>
            <a:pPr algn="l">
              <a:spcAft>
                <a:spcPts val="400"/>
              </a:spcAft>
              <a:defRPr sz="1600">
                <a:solidFill>
                  <a:srgbClr val="F2F7FF"/>
                </a:solidFill>
                <a:latin typeface="Aptos"/>
              </a:defRPr>
            </a:pPr>
            <a:r>
              <a:t>They matter because people are more likely to continue a conversation when they have already taken small steps.</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Micro-agreement ladder</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1. "Do you see these powerlines here?"</a:t>
            </a:r>
          </a:p>
          <a:p>
            <a:pPr algn="l">
              <a:spcAft>
                <a:spcPts val="400"/>
              </a:spcAft>
              <a:defRPr sz="1600">
                <a:solidFill>
                  <a:srgbClr val="F2F7FF"/>
                </a:solidFill>
                <a:latin typeface="Aptos"/>
              </a:defRPr>
            </a:pPr>
            <a:r>
              <a:t>2. "Does that make sense?"</a:t>
            </a:r>
          </a:p>
          <a:p>
            <a:pPr algn="l">
              <a:spcAft>
                <a:spcPts val="400"/>
              </a:spcAft>
              <a:defRPr sz="1600">
                <a:solidFill>
                  <a:srgbClr val="F2F7FF"/>
                </a:solidFill>
                <a:latin typeface="Aptos"/>
              </a:defRPr>
            </a:pPr>
            <a:r>
              <a:t>3. "Have you noticed your bill creeping up too?"</a:t>
            </a:r>
          </a:p>
          <a:p>
            <a:pPr algn="l">
              <a:spcAft>
                <a:spcPts val="400"/>
              </a:spcAft>
              <a:defRPr sz="1600">
                <a:solidFill>
                  <a:srgbClr val="F2F7FF"/>
                </a:solidFill>
                <a:latin typeface="Aptos"/>
              </a:defRPr>
            </a:pPr>
            <a:r>
              <a:t>4. "What's the lowest your Duke bill gets?"</a:t>
            </a:r>
          </a:p>
          <a:p>
            <a:pPr algn="l">
              <a:spcAft>
                <a:spcPts val="400"/>
              </a:spcAft>
              <a:defRPr sz="1600">
                <a:solidFill>
                  <a:srgbClr val="F2F7FF"/>
                </a:solidFill>
                <a:latin typeface="Aptos"/>
              </a:defRPr>
            </a:pPr>
            <a:r>
              <a:t>5. "And what does it spike to in the summer?"</a:t>
            </a:r>
          </a:p>
          <a:p>
            <a:pPr algn="l">
              <a:spcAft>
                <a:spcPts val="400"/>
              </a:spcAft>
            </a:pPr>
          </a:p>
          <a:p>
            <a:pPr algn="l">
              <a:spcAft>
                <a:spcPts val="400"/>
              </a:spcAft>
              <a:defRPr sz="1600">
                <a:solidFill>
                  <a:srgbClr val="F2F7FF"/>
                </a:solidFill>
                <a:latin typeface="Aptos"/>
              </a:defRPr>
            </a:pPr>
            <a:r>
              <a:t>Each step is small. Together, they move the homeowner from guarded to engaged.</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Keep control through questions</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The person asking good questions controls the direction of the conversation.</a:t>
            </a:r>
          </a:p>
          <a:p>
            <a:pPr algn="l">
              <a:spcAft>
                <a:spcPts val="400"/>
              </a:spcAft>
            </a:pPr>
          </a:p>
          <a:p>
            <a:pPr algn="l">
              <a:spcAft>
                <a:spcPts val="400"/>
              </a:spcAft>
              <a:defRPr sz="1600">
                <a:solidFill>
                  <a:srgbClr val="F2F7FF"/>
                </a:solidFill>
                <a:latin typeface="Aptos"/>
              </a:defRPr>
            </a:pPr>
            <a:r>
              <a:t>Use short transitions like "real quick," "out of curiosity," "so I can see if this even makes sense," and "before I waste your time." The wrong question gives away control. The right question moves the pitch forward.</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16) Building Pain Professionally</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Pain-building means helping the homeowner clearly understand the cost problem they already have. It does not mean exaggerating or pressuring.</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The bill question sequence</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1. "What's the lowest your Duke bill gets?"</a:t>
            </a:r>
          </a:p>
          <a:p>
            <a:pPr algn="l">
              <a:spcAft>
                <a:spcPts val="400"/>
              </a:spcAft>
              <a:defRPr sz="1600">
                <a:solidFill>
                  <a:srgbClr val="F2F7FF"/>
                </a:solidFill>
                <a:latin typeface="Aptos"/>
              </a:defRPr>
            </a:pPr>
            <a:r>
              <a:t>2. "And what does it spike to in the summer?"</a:t>
            </a:r>
          </a:p>
          <a:p>
            <a:pPr algn="l">
              <a:spcAft>
                <a:spcPts val="400"/>
              </a:spcAft>
              <a:defRPr sz="1600">
                <a:solidFill>
                  <a:srgbClr val="F2F7FF"/>
                </a:solidFill>
                <a:latin typeface="Aptos"/>
              </a:defRPr>
            </a:pPr>
            <a:r>
              <a:t>3. "How long has it been hitting that range?"</a:t>
            </a:r>
          </a:p>
          <a:p>
            <a:pPr algn="l">
              <a:spcAft>
                <a:spcPts val="400"/>
              </a:spcAft>
              <a:defRPr sz="1600">
                <a:solidFill>
                  <a:srgbClr val="F2F7FF"/>
                </a:solidFill>
                <a:latin typeface="Aptos"/>
              </a:defRPr>
            </a:pPr>
            <a:r>
              <a:t>4. "Is it the summer spike or the constant increase that bothers you more?"</a:t>
            </a:r>
          </a:p>
          <a:p>
            <a:pPr algn="l">
              <a:spcAft>
                <a:spcPts val="400"/>
              </a:spcAft>
              <a:defRPr sz="1600">
                <a:solidFill>
                  <a:srgbClr val="F2F7FF"/>
                </a:solidFill>
                <a:latin typeface="Aptos"/>
              </a:defRPr>
            </a:pPr>
            <a:r>
              <a:t>5. "If I can't even save you money and it ends up costing more, what are you going to tell me?"</a:t>
            </a:r>
          </a:p>
          <a:p>
            <a:pPr algn="l">
              <a:spcAft>
                <a:spcPts val="400"/>
              </a:spcAft>
              <a:defRPr sz="1600">
                <a:solidFill>
                  <a:srgbClr val="F2F7FF"/>
                </a:solidFill>
                <a:latin typeface="Aptos"/>
              </a:defRPr>
            </a:pPr>
            <a:r>
              <a:t>6. "What I look at is the squiggly line on your bill. It tells me how much power you are pulling annually and lets me know if I can save you money. Do you get this online or paper?"</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Why this sequence works</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 The lowest bill starts the conversation safely.</a:t>
            </a:r>
          </a:p>
          <a:p>
            <a:pPr algn="l">
              <a:spcAft>
                <a:spcPts val="400"/>
              </a:spcAft>
              <a:defRPr sz="1600">
                <a:solidFill>
                  <a:srgbClr val="F2F7FF"/>
                </a:solidFill>
                <a:latin typeface="Aptos"/>
              </a:defRPr>
            </a:pPr>
            <a:r>
              <a:t>• The summer bill reveals the pain.</a:t>
            </a:r>
          </a:p>
          <a:p>
            <a:pPr algn="l">
              <a:spcAft>
                <a:spcPts val="400"/>
              </a:spcAft>
              <a:defRPr sz="1600">
                <a:solidFill>
                  <a:srgbClr val="F2F7FF"/>
                </a:solidFill>
                <a:latin typeface="Aptos"/>
              </a:defRPr>
            </a:pPr>
            <a:r>
              <a:t>• The timeline shows whether the problem is persistent.</a:t>
            </a:r>
          </a:p>
          <a:p>
            <a:pPr algn="l">
              <a:spcAft>
                <a:spcPts val="400"/>
              </a:spcAft>
              <a:defRPr sz="1600">
                <a:solidFill>
                  <a:srgbClr val="F2F7FF"/>
                </a:solidFill>
                <a:latin typeface="Aptos"/>
              </a:defRPr>
            </a:pPr>
            <a:r>
              <a:t>• The frustration question identifies emotional motivation.</a:t>
            </a:r>
          </a:p>
          <a:p>
            <a:pPr algn="l">
              <a:spcAft>
                <a:spcPts val="400"/>
              </a:spcAft>
              <a:defRPr sz="1600">
                <a:solidFill>
                  <a:srgbClr val="F2F7FF"/>
                </a:solidFill>
                <a:latin typeface="Aptos"/>
              </a:defRPr>
            </a:pPr>
            <a:r>
              <a:t>• The savings question removes pressure because the obvious answer is no.</a:t>
            </a:r>
          </a:p>
          <a:p>
            <a:pPr algn="l">
              <a:spcAft>
                <a:spcPts val="400"/>
              </a:spcAft>
              <a:defRPr sz="1600">
                <a:solidFill>
                  <a:srgbClr val="F2F7FF"/>
                </a:solidFill>
                <a:latin typeface="Aptos"/>
              </a:defRPr>
            </a:pPr>
            <a:r>
              <a:t>• The squiggly-line explanation gives a simple reason for pulling the bill without getting technical.</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Why the squiggly line matters</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The usage graph on the bill shows how much power the home pulls across the year. That annual usage is what tells you whether net metering can create savings.</a:t>
            </a:r>
          </a:p>
          <a:p>
            <a:pPr algn="l">
              <a:spcAft>
                <a:spcPts val="400"/>
              </a:spcAft>
            </a:pPr>
          </a:p>
          <a:p>
            <a:pPr algn="l">
              <a:spcAft>
                <a:spcPts val="400"/>
              </a:spcAft>
              <a:defRPr sz="1600">
                <a:solidFill>
                  <a:srgbClr val="F2F7FF"/>
                </a:solidFill>
                <a:latin typeface="Aptos"/>
              </a:defRPr>
            </a:pPr>
            <a:r>
              <a:t>Keep this explanation simple. The homeowner does not need a technical lesson at the door. They need to understand why the bill matters:</a:t>
            </a:r>
          </a:p>
          <a:p>
            <a:pPr algn="l">
              <a:spcAft>
                <a:spcPts val="400"/>
              </a:spcAft>
            </a:pPr>
          </a:p>
          <a:p>
            <a:pPr algn="l">
              <a:spcAft>
                <a:spcPts val="400"/>
              </a:spcAft>
              <a:defRPr sz="1600">
                <a:solidFill>
                  <a:srgbClr val="F2F7FF"/>
                </a:solidFill>
                <a:latin typeface="Aptos"/>
              </a:defRPr>
            </a:pPr>
            <a:r>
              <a:t>&gt; "This tells me what you are already using and whether I can beat what you are already paying."</a:t>
            </a:r>
          </a:p>
          <a:p>
            <a:pPr algn="l">
              <a:spcAft>
                <a:spcPts val="400"/>
              </a:spcAft>
            </a:pPr>
          </a:p>
          <a:p>
            <a:pPr algn="l">
              <a:spcAft>
                <a:spcPts val="400"/>
              </a:spcAft>
              <a:defRPr sz="1600">
                <a:solidFill>
                  <a:srgbClr val="F2F7FF"/>
                </a:solidFill>
                <a:latin typeface="Aptos"/>
              </a:defRPr>
            </a:pPr>
            <a:r>
              <a:t>Then ask:</a:t>
            </a:r>
          </a:p>
          <a:p>
            <a:pPr algn="l">
              <a:spcAft>
                <a:spcPts val="400"/>
              </a:spcAft>
            </a:pPr>
          </a:p>
          <a:p>
            <a:pPr algn="l">
              <a:spcAft>
                <a:spcPts val="400"/>
              </a:spcAft>
              <a:defRPr sz="1600">
                <a:solidFill>
                  <a:srgbClr val="F2F7FF"/>
                </a:solidFill>
                <a:latin typeface="Aptos"/>
              </a:defRPr>
            </a:pPr>
            <a:r>
              <a:t>&gt; "Do you get this online or paper?"</a:t>
            </a:r>
          </a:p>
          <a:p>
            <a:pPr algn="l">
              <a:spcAft>
                <a:spcPts val="400"/>
              </a:spcAft>
            </a:pPr>
          </a:p>
          <a:p>
            <a:pPr algn="l">
              <a:spcAft>
                <a:spcPts val="400"/>
              </a:spcAft>
              <a:defRPr sz="1600">
                <a:solidFill>
                  <a:srgbClr val="F2F7FF"/>
                </a:solidFill>
                <a:latin typeface="Aptos"/>
              </a:defRPr>
            </a:pPr>
            <a:r>
              <a:t>That question gives them a simple action instead of a vague decision.</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How to respond to bill numbers</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If the number is low:</a:t>
            </a:r>
          </a:p>
          <a:p>
            <a:pPr algn="l">
              <a:spcAft>
                <a:spcPts val="400"/>
              </a:spcAft>
              <a:defRPr sz="1600">
                <a:solidFill>
                  <a:srgbClr val="F2F7FF"/>
                </a:solidFill>
                <a:latin typeface="Aptos"/>
              </a:defRPr>
            </a:pPr>
            <a:r>
              <a:t>"Got it. You may already be in the group where this does not move the needle enough."</a:t>
            </a:r>
          </a:p>
          <a:p>
            <a:pPr algn="l">
              <a:spcAft>
                <a:spcPts val="400"/>
              </a:spcAft>
            </a:pPr>
          </a:p>
          <a:p>
            <a:pPr algn="l">
              <a:spcAft>
                <a:spcPts val="400"/>
              </a:spcAft>
              <a:defRPr sz="1600">
                <a:solidFill>
                  <a:srgbClr val="F2F7FF"/>
                </a:solidFill>
                <a:latin typeface="Aptos"/>
              </a:defRPr>
            </a:pPr>
            <a:r>
              <a:t>If the number is high:</a:t>
            </a:r>
          </a:p>
          <a:p>
            <a:pPr algn="l">
              <a:spcAft>
                <a:spcPts val="400"/>
              </a:spcAft>
              <a:defRPr sz="1600">
                <a:solidFill>
                  <a:srgbClr val="F2F7FF"/>
                </a:solidFill>
                <a:latin typeface="Aptos"/>
              </a:defRPr>
            </a:pPr>
            <a:r>
              <a:t>"That is the range where it is worth checking."</a:t>
            </a:r>
          </a:p>
          <a:p>
            <a:pPr algn="l">
              <a:spcAft>
                <a:spcPts val="400"/>
              </a:spcAft>
            </a:pPr>
          </a:p>
          <a:p>
            <a:pPr algn="l">
              <a:spcAft>
                <a:spcPts val="400"/>
              </a:spcAft>
              <a:defRPr sz="1600">
                <a:solidFill>
                  <a:srgbClr val="F2F7FF"/>
                </a:solidFill>
                <a:latin typeface="Aptos"/>
              </a:defRPr>
            </a:pPr>
            <a:r>
              <a:t>If the homeowner seems embarrassed:</a:t>
            </a:r>
          </a:p>
          <a:p>
            <a:pPr algn="l">
              <a:spcAft>
                <a:spcPts val="400"/>
              </a:spcAft>
              <a:defRPr sz="1600">
                <a:solidFill>
                  <a:srgbClr val="F2F7FF"/>
                </a:solidFill>
                <a:latin typeface="Aptos"/>
              </a:defRPr>
            </a:pPr>
            <a:r>
              <a:t>"Most people do not even realize how high it has gotten until they say it out loud."</a:t>
            </a:r>
          </a:p>
          <a:p>
            <a:pPr algn="l">
              <a:spcAft>
                <a:spcPts val="400"/>
              </a:spcAft>
            </a:pPr>
          </a:p>
          <a:p>
            <a:pPr algn="l">
              <a:spcAft>
                <a:spcPts val="400"/>
              </a:spcAft>
              <a:defRPr sz="1600">
                <a:solidFill>
                  <a:srgbClr val="F2F7FF"/>
                </a:solidFill>
                <a:latin typeface="Aptos"/>
              </a:defRPr>
            </a:pPr>
            <a:r>
              <a:t>Stay composed. Your reaction tells the homeowner whether it is safe to keep sharing.</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17) Transitioning From Pitch to Appointment</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The appointment should feel like the natural next step, not a sudden ask.</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When the homeowner is qualified</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Use a clear transition:</a:t>
            </a:r>
          </a:p>
          <a:p>
            <a:pPr algn="l">
              <a:spcAft>
                <a:spcPts val="400"/>
              </a:spcAft>
            </a:pPr>
          </a:p>
          <a:p>
            <a:pPr algn="l">
              <a:spcAft>
                <a:spcPts val="400"/>
              </a:spcAft>
              <a:defRPr sz="1600">
                <a:solidFill>
                  <a:srgbClr val="F2F7FF"/>
                </a:solidFill>
                <a:latin typeface="Aptos"/>
              </a:defRPr>
            </a:pPr>
            <a:r>
              <a:t>"Based on that bill range, it is worth having someone map this to your actual usage. It is just a numbers walkthrough to see if it saves money."</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Bill-pull transition</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"If I can't even save you money and it ends up costing more, what are you going to tell me?"</a:t>
            </a:r>
          </a:p>
          <a:p>
            <a:pPr algn="l">
              <a:spcAft>
                <a:spcPts val="400"/>
              </a:spcAft>
            </a:pPr>
          </a:p>
          <a:p>
            <a:pPr algn="l">
              <a:spcAft>
                <a:spcPts val="400"/>
              </a:spcAft>
              <a:defRPr sz="1400">
                <a:solidFill>
                  <a:srgbClr val="F2F7FF"/>
                </a:solidFill>
                <a:latin typeface="Aptos"/>
              </a:defRPr>
            </a:pPr>
            <a:r>
              <a:t>Let them answer. The answer should be some version of "no."</a:t>
            </a:r>
          </a:p>
          <a:p>
            <a:pPr algn="l">
              <a:spcAft>
                <a:spcPts val="400"/>
              </a:spcAft>
            </a:pPr>
          </a:p>
          <a:p>
            <a:pPr algn="l">
              <a:spcAft>
                <a:spcPts val="400"/>
              </a:spcAft>
              <a:defRPr sz="1400">
                <a:solidFill>
                  <a:srgbClr val="F2F7FF"/>
                </a:solidFill>
                <a:latin typeface="Aptos"/>
              </a:defRPr>
            </a:pPr>
            <a:r>
              <a:t>Then say:</a:t>
            </a:r>
          </a:p>
          <a:p>
            <a:pPr algn="l">
              <a:spcAft>
                <a:spcPts val="400"/>
              </a:spcAft>
            </a:pPr>
          </a:p>
          <a:p>
            <a:pPr algn="l">
              <a:spcAft>
                <a:spcPts val="400"/>
              </a:spcAft>
              <a:defRPr sz="1400">
                <a:solidFill>
                  <a:srgbClr val="F2F7FF"/>
                </a:solidFill>
                <a:latin typeface="Aptos"/>
              </a:defRPr>
            </a:pPr>
            <a:r>
              <a:t>"Exactly. What I look at is the squiggly line on your bill. It tells me how much power you are pulling annually and lets me know if I can save you money. Do you get this online or paper?"</a:t>
            </a:r>
          </a:p>
          <a:p>
            <a:pPr algn="l">
              <a:spcAft>
                <a:spcPts val="400"/>
              </a:spcAft>
            </a:pP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Why this works:</a:t>
            </a:r>
          </a:p>
          <a:p>
            <a:pPr algn="l">
              <a:spcAft>
                <a:spcPts val="400"/>
              </a:spcAft>
              <a:defRPr sz="1400">
                <a:solidFill>
                  <a:srgbClr val="F2F7FF"/>
                </a:solidFill>
                <a:latin typeface="Aptos"/>
              </a:defRPr>
            </a:pPr>
            <a:r>
              <a:t>• It makes the homeowner feel in control.</a:t>
            </a:r>
          </a:p>
          <a:p>
            <a:pPr algn="l">
              <a:spcAft>
                <a:spcPts val="400"/>
              </a:spcAft>
              <a:defRPr sz="1400">
                <a:solidFill>
                  <a:srgbClr val="F2F7FF"/>
                </a:solidFill>
                <a:latin typeface="Aptos"/>
              </a:defRPr>
            </a:pPr>
            <a:r>
              <a:t>• It proves you are not asking them to move forward if the numbers are worse.</a:t>
            </a:r>
          </a:p>
          <a:p>
            <a:pPr algn="l">
              <a:spcAft>
                <a:spcPts val="400"/>
              </a:spcAft>
              <a:defRPr sz="1400">
                <a:solidFill>
                  <a:srgbClr val="F2F7FF"/>
                </a:solidFill>
                <a:latin typeface="Aptos"/>
              </a:defRPr>
            </a:pPr>
            <a:r>
              <a:t>• It explains why you need the bill in plain language.</a:t>
            </a:r>
          </a:p>
          <a:p>
            <a:pPr algn="l">
              <a:spcAft>
                <a:spcPts val="400"/>
              </a:spcAft>
              <a:defRPr sz="1400">
                <a:solidFill>
                  <a:srgbClr val="F2F7FF"/>
                </a:solidFill>
                <a:latin typeface="Aptos"/>
              </a:defRPr>
            </a:pPr>
            <a:r>
              <a:t>• It turns the bill pull into a simple online-or-paper question.</a:t>
            </a: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If both homeowners are available</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"If you both are here now, we can take 10-15 minutes and show you what it looks like against your actual usage."</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If one homeowner is missing</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"Since both of you are involved in home decisions, let's do it when you are both there so you only have to go through it once."</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Time-option close</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Do not ask, "When are you free?"</a:t>
            </a:r>
          </a:p>
          <a:p>
            <a:pPr algn="l">
              <a:spcAft>
                <a:spcPts val="400"/>
              </a:spcAft>
            </a:pPr>
          </a:p>
          <a:p>
            <a:pPr algn="l">
              <a:spcAft>
                <a:spcPts val="400"/>
              </a:spcAft>
              <a:defRPr sz="1600">
                <a:solidFill>
                  <a:srgbClr val="F2F7FF"/>
                </a:solidFill>
                <a:latin typeface="Aptos"/>
              </a:defRPr>
            </a:pPr>
            <a:r>
              <a:t>Ask:</a:t>
            </a:r>
          </a:p>
          <a:p>
            <a:pPr algn="l">
              <a:spcAft>
                <a:spcPts val="400"/>
              </a:spcAft>
              <a:defRPr sz="1600">
                <a:solidFill>
                  <a:srgbClr val="F2F7FF"/>
                </a:solidFill>
                <a:latin typeface="Aptos"/>
              </a:defRPr>
            </a:pPr>
            <a:r>
              <a:t>"Is today at 6:30 better, or tomorrow at 5:45?"</a:t>
            </a:r>
          </a:p>
          <a:p>
            <a:pPr algn="l">
              <a:spcAft>
                <a:spcPts val="400"/>
              </a:spcAft>
            </a:pPr>
          </a:p>
          <a:p>
            <a:pPr algn="l">
              <a:spcAft>
                <a:spcPts val="400"/>
              </a:spcAft>
              <a:defRPr sz="1600">
                <a:solidFill>
                  <a:srgbClr val="F2F7FF"/>
                </a:solidFill>
                <a:latin typeface="Aptos"/>
              </a:defRPr>
            </a:pPr>
            <a:r>
              <a:t>Why this works:</a:t>
            </a:r>
          </a:p>
          <a:p>
            <a:pPr algn="l">
              <a:spcAft>
                <a:spcPts val="400"/>
              </a:spcAft>
              <a:defRPr sz="1600">
                <a:solidFill>
                  <a:srgbClr val="F2F7FF"/>
                </a:solidFill>
                <a:latin typeface="Aptos"/>
              </a:defRPr>
            </a:pPr>
            <a:r>
              <a:t>• It reduces decision fatigue.</a:t>
            </a:r>
          </a:p>
          <a:p>
            <a:pPr algn="l">
              <a:spcAft>
                <a:spcPts val="400"/>
              </a:spcAft>
              <a:defRPr sz="1600">
                <a:solidFill>
                  <a:srgbClr val="F2F7FF"/>
                </a:solidFill>
                <a:latin typeface="Aptos"/>
              </a:defRPr>
            </a:pPr>
            <a:r>
              <a:t>• It keeps the conversation specific.</a:t>
            </a:r>
          </a:p>
          <a:p>
            <a:pPr algn="l">
              <a:spcAft>
                <a:spcPts val="400"/>
              </a:spcAft>
              <a:defRPr sz="1600">
                <a:solidFill>
                  <a:srgbClr val="F2F7FF"/>
                </a:solidFill>
                <a:latin typeface="Aptos"/>
              </a:defRPr>
            </a:pPr>
            <a:r>
              <a:t>• It assumes the next step once there is fit.</a:t>
            </a:r>
          </a:p>
          <a:p>
            <a:pPr algn="l">
              <a:spcAft>
                <a:spcPts val="400"/>
              </a:spcAft>
              <a:defRPr sz="1600">
                <a:solidFill>
                  <a:srgbClr val="F2F7FF"/>
                </a:solidFill>
                <a:latin typeface="Aptos"/>
              </a:defRPr>
            </a:pPr>
            <a:r>
              <a:t>• It avoids vague follow-up.</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Final lock line</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"Perfect. This is just a numbers walkthrough. If it saves money, great. If it does not, we shake hands and you are done."</a:t>
            </a:r>
          </a:p>
          <a:p>
            <a:pPr algn="l">
              <a:spcAft>
                <a:spcPts val="400"/>
              </a:spcAft>
            </a:pPr>
          </a:p>
          <a:p>
            <a:pPr algn="l">
              <a:spcAft>
                <a:spcPts val="400"/>
              </a:spcAft>
              <a:defRPr sz="1600">
                <a:solidFill>
                  <a:srgbClr val="F2F7FF"/>
                </a:solidFill>
                <a:latin typeface="Aptos"/>
              </a:defRPr>
            </a:pPr>
            <a:r>
              <a:t>This lowers pressure and reduces no-show risk because the homeowner understands the meeting.</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18) Objection Handling: Acknowledge, Reframe, Move Forward</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Most objections are not final decisions. They are signs of uncertainty, pressure, or lack of context.</a:t>
            </a:r>
          </a:p>
          <a:p>
            <a:pPr algn="l">
              <a:spcAft>
                <a:spcPts val="400"/>
              </a:spcAft>
            </a:pPr>
          </a:p>
          <a:p>
            <a:pPr algn="l">
              <a:spcAft>
                <a:spcPts val="400"/>
              </a:spcAft>
              <a:defRPr sz="1600">
                <a:solidFill>
                  <a:srgbClr val="F2F7FF"/>
                </a:solidFill>
                <a:latin typeface="Aptos"/>
              </a:defRPr>
            </a:pPr>
            <a:r>
              <a:t>Use this structure:</a:t>
            </a:r>
          </a:p>
          <a:p>
            <a:pPr algn="l">
              <a:spcAft>
                <a:spcPts val="400"/>
              </a:spcAft>
            </a:pPr>
          </a:p>
          <a:p>
            <a:pPr algn="l">
              <a:spcAft>
                <a:spcPts val="400"/>
              </a:spcAft>
              <a:defRPr sz="1600">
                <a:solidFill>
                  <a:srgbClr val="F2F7FF"/>
                </a:solidFill>
                <a:latin typeface="Aptos"/>
              </a:defRPr>
            </a:pPr>
            <a:r>
              <a:t>1. Acknowledge - Show you heard them.</a:t>
            </a:r>
          </a:p>
          <a:p>
            <a:pPr algn="l">
              <a:spcAft>
                <a:spcPts val="400"/>
              </a:spcAft>
              <a:defRPr sz="1600">
                <a:solidFill>
                  <a:srgbClr val="F2F7FF"/>
                </a:solidFill>
                <a:latin typeface="Aptos"/>
              </a:defRPr>
            </a:pPr>
            <a:r>
              <a:t>2. Reframe - Bring the conversation back to the real purpose.</a:t>
            </a:r>
          </a:p>
          <a:p>
            <a:pPr algn="l">
              <a:spcAft>
                <a:spcPts val="400"/>
              </a:spcAft>
              <a:defRPr sz="1600">
                <a:solidFill>
                  <a:srgbClr val="F2F7FF"/>
                </a:solidFill>
                <a:latin typeface="Aptos"/>
              </a:defRPr>
            </a:pPr>
            <a:r>
              <a:t>3. Move forward - Ask a small question that continues the pitch.</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"Not interested."</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"Totally fair. Most people are not interested in another pitch. They are interested in seeing if net metering can beat Duke on price. Real quick, are your bills usually under $50 or over $150?"</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"I don't have time."</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"Same here. That is why I started with 'I don't have much time.' Before I run, what does your bill usually get to in the summer?"</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"I need to talk to my spouse."</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"Exactly, and that is why we only do the walkthrough when both people are there. Is tomorrow at 5:45 or 6:30 better?"</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"I heard this is a scam."</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"You are right to be cautious. That is why we do not guess. We use your actual Duke bill and compare the net metering numbers first. If I can't save you money, you would tell me no anyway. Do you get your bill online or paper?"</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"My bill is already low."</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"That may mean you are already in the group where this does not make sense. What does it usually hit at the highest point?"</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Objection tone</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When handling objections, do not speed up. Slow down slightly. If you rush, you sound defensive. If you stay calm, you sound confident.</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Mistake: Reciting the words without listening</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Correction: Acknowledge the homeowner before moving to the next line.</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Mistake: Talking too much in the Intro</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Correction: Keep the Intro short. The goal is attention, not education.</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Mistake: Sounding too excited about savings</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Correction: Use conditional language. "If the numbers make sense" sounds more credible than hype.</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Mistake: Asking for the appointment too early</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Correction: Establish Intro, Problem, Solution, Take Away, then Close.</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Mistake: Poor body language</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Correction: Step back, angle your body, relax your shoulders, keep hands visible.</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Mistake: Rushing after an objection</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Correction: Slow down, acknowledge, reframe, and ask a smaller question.</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Mistake: Using technical language too soon</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Correction: Speak in bill language first. Technical details come later.</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Structure</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1. Intro: Lower guard and create local relevance.</a:t>
            </a:r>
          </a:p>
          <a:p>
            <a:pPr algn="l">
              <a:spcAft>
                <a:spcPts val="400"/>
              </a:spcAft>
              <a:defRPr sz="1600">
                <a:solidFill>
                  <a:srgbClr val="F2F7FF"/>
                </a:solidFill>
                <a:latin typeface="Aptos"/>
              </a:defRPr>
            </a:pPr>
            <a:r>
              <a:t>2. Problem: Connect infrastructure and rate increases to the homeowner's bill.</a:t>
            </a:r>
          </a:p>
          <a:p>
            <a:pPr algn="l">
              <a:spcAft>
                <a:spcPts val="400"/>
              </a:spcAft>
              <a:defRPr sz="1600">
                <a:solidFill>
                  <a:srgbClr val="F2F7FF"/>
                </a:solidFill>
                <a:latin typeface="Aptos"/>
              </a:defRPr>
            </a:pPr>
            <a:r>
              <a:t>3. Solution: Present a conditional way to get the same power for less.</a:t>
            </a:r>
          </a:p>
          <a:p>
            <a:pPr algn="l">
              <a:spcAft>
                <a:spcPts val="400"/>
              </a:spcAft>
              <a:defRPr sz="1600">
                <a:solidFill>
                  <a:srgbClr val="F2F7FF"/>
                </a:solidFill>
                <a:latin typeface="Aptos"/>
              </a:defRPr>
            </a:pPr>
            <a:r>
              <a:t>4. Take Away: Disqualify low-bill homes and create a fit-check frame.</a:t>
            </a:r>
          </a:p>
          <a:p>
            <a:pPr algn="l">
              <a:spcAft>
                <a:spcPts val="400"/>
              </a:spcAft>
              <a:defRPr sz="1600">
                <a:solidFill>
                  <a:srgbClr val="F2F7FF"/>
                </a:solidFill>
                <a:latin typeface="Aptos"/>
              </a:defRPr>
            </a:pPr>
            <a:r>
              <a:t>5. Close: Ask for the bill number and move to the next step.</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Core pitch</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Intro:</a:t>
            </a:r>
          </a:p>
          <a:p>
            <a:pPr algn="l">
              <a:spcAft>
                <a:spcPts val="400"/>
              </a:spcAft>
              <a:defRPr sz="1400">
                <a:solidFill>
                  <a:srgbClr val="F2F7FF"/>
                </a:solidFill>
                <a:latin typeface="Aptos"/>
              </a:defRPr>
            </a:pPr>
            <a:r>
              <a:t>"Hey listen, I don't have much time. Do you see these powerlines here? They are all going underground because most people lost power during the storms. That way if something catastrophic happens, we'll still have power. Does that make sense?"</a:t>
            </a:r>
          </a:p>
          <a:p>
            <a:pPr algn="l">
              <a:spcAft>
                <a:spcPts val="400"/>
              </a:spcAft>
            </a:pPr>
          </a:p>
          <a:p>
            <a:pPr algn="l">
              <a:spcAft>
                <a:spcPts val="400"/>
              </a:spcAft>
              <a:defRPr sz="1400">
                <a:solidFill>
                  <a:srgbClr val="F2F7FF"/>
                </a:solidFill>
                <a:latin typeface="Aptos"/>
              </a:defRPr>
            </a:pPr>
            <a:r>
              <a:t>Problem:</a:t>
            </a:r>
          </a:p>
          <a:p>
            <a:pPr algn="l">
              <a:spcAft>
                <a:spcPts val="400"/>
              </a:spcAft>
              <a:defRPr sz="1400">
                <a:solidFill>
                  <a:srgbClr val="F2F7FF"/>
                </a:solidFill>
                <a:latin typeface="Aptos"/>
              </a:defRPr>
            </a:pPr>
            <a:r>
              <a:t>"Duke is increasing rates to pay for all that infrastructure. No one is happy about paying more money for the same amount of power."</a:t>
            </a:r>
          </a:p>
          <a:p>
            <a:pPr algn="l">
              <a:spcAft>
                <a:spcPts val="400"/>
              </a:spcAft>
            </a:pPr>
          </a:p>
          <a:p>
            <a:pPr algn="l">
              <a:spcAft>
                <a:spcPts val="400"/>
              </a:spcAft>
              <a:defRPr sz="1400">
                <a:solidFill>
                  <a:srgbClr val="F2F7FF"/>
                </a:solidFill>
                <a:latin typeface="Aptos"/>
              </a:defRPr>
            </a:pPr>
            <a:r>
              <a:t>Solution:</a:t>
            </a:r>
          </a:p>
          <a:p>
            <a:pPr algn="l">
              <a:spcAft>
                <a:spcPts val="400"/>
              </a:spcAft>
              <a:defRPr sz="1400">
                <a:solidFill>
                  <a:srgbClr val="F2F7FF"/>
                </a:solidFill>
                <a:latin typeface="Aptos"/>
              </a:defRPr>
            </a:pPr>
            <a:r>
              <a:t>"If we can get you all the power you're currently using from Duke for significantly cheaper, we'll show you exactly what it looks like."</a:t>
            </a:r>
          </a:p>
          <a:p>
            <a:pPr algn="l">
              <a:spcAft>
                <a:spcPts val="400"/>
              </a:spcAft>
            </a:pPr>
          </a:p>
          <a:p>
            <a:pPr algn="l">
              <a:spcAft>
                <a:spcPts val="400"/>
              </a:spcAft>
              <a:defRPr sz="1400">
                <a:solidFill>
                  <a:srgbClr val="F2F7FF"/>
                </a:solidFill>
                <a:latin typeface="Aptos"/>
              </a:defRPr>
            </a:pPr>
            <a:r>
              <a:t>Take Away:</a:t>
            </a:r>
          </a:p>
          <a:p>
            <a:pPr algn="l">
              <a:spcAft>
                <a:spcPts val="400"/>
              </a:spcAft>
              <a:defRPr sz="1400">
                <a:solidFill>
                  <a:srgbClr val="F2F7FF"/>
                </a:solidFill>
                <a:latin typeface="Aptos"/>
              </a:defRPr>
            </a:pPr>
            <a:r>
              <a:t>"Most of your neighbors are only paying $35-$40, so we probably can't help them."</a:t>
            </a:r>
          </a:p>
          <a:p>
            <a:pPr algn="l">
              <a:spcAft>
                <a:spcPts val="400"/>
              </a:spcAft>
            </a:pPr>
          </a:p>
        </p:txBody>
      </p:sp>
      <p:sp>
        <p:nvSpPr>
          <p:cNvPr id="8" name="TextBox 7"/>
          <p:cNvSpPr txBox="1"/>
          <p:nvPr/>
        </p:nvSpPr>
        <p:spPr>
          <a:xfrm>
            <a:off x="5897880" y="1417320"/>
            <a:ext cx="4663440" cy="4334256"/>
          </a:xfrm>
          <a:prstGeom prst="rect">
            <a:avLst/>
          </a:prstGeom>
          <a:noFill/>
        </p:spPr>
        <p:txBody>
          <a:bodyPr wrap="square" anchor="t">
            <a:spAutoFit/>
          </a:bodyPr>
          <a:lstStyle/>
          <a:p>
            <a:pPr algn="l">
              <a:spcAft>
                <a:spcPts val="400"/>
              </a:spcAft>
              <a:defRPr sz="1400">
                <a:solidFill>
                  <a:srgbClr val="F2F7FF"/>
                </a:solidFill>
                <a:latin typeface="Aptos"/>
              </a:defRPr>
            </a:pPr>
            <a:r>
              <a:t>Close:</a:t>
            </a:r>
          </a:p>
          <a:p>
            <a:pPr algn="l">
              <a:spcAft>
                <a:spcPts val="400"/>
              </a:spcAft>
              <a:defRPr sz="1400">
                <a:solidFill>
                  <a:srgbClr val="F2F7FF"/>
                </a:solidFill>
                <a:latin typeface="Aptos"/>
              </a:defRPr>
            </a:pPr>
            <a:r>
              <a:t>"What's the lowest your Duke bill gets?"</a:t>
            </a:r>
          </a:p>
          <a:p>
            <a:pPr algn="l">
              <a:spcAft>
                <a:spcPts val="400"/>
              </a:spcAft>
            </a:pPr>
          </a:p>
          <a:p>
            <a:pPr algn="l">
              <a:spcAft>
                <a:spcPts val="400"/>
              </a:spcAft>
              <a:defRPr sz="1400">
                <a:solidFill>
                  <a:srgbClr val="F2F7FF"/>
                </a:solidFill>
                <a:latin typeface="Aptos"/>
              </a:defRPr>
            </a:pPr>
            <a:r>
              <a:t>Savings check:</a:t>
            </a:r>
          </a:p>
          <a:p>
            <a:pPr algn="l">
              <a:spcAft>
                <a:spcPts val="400"/>
              </a:spcAft>
              <a:defRPr sz="1400">
                <a:solidFill>
                  <a:srgbClr val="F2F7FF"/>
                </a:solidFill>
                <a:latin typeface="Aptos"/>
              </a:defRPr>
            </a:pPr>
            <a:r>
              <a:t>"If I can't even save you money and it ends up costing more, what are you going to tell me?"</a:t>
            </a:r>
          </a:p>
          <a:p>
            <a:pPr algn="l">
              <a:spcAft>
                <a:spcPts val="400"/>
              </a:spcAft>
            </a:pPr>
          </a:p>
          <a:p>
            <a:pPr algn="l">
              <a:spcAft>
                <a:spcPts val="400"/>
              </a:spcAft>
              <a:defRPr sz="1400">
                <a:solidFill>
                  <a:srgbClr val="F2F7FF"/>
                </a:solidFill>
                <a:latin typeface="Aptos"/>
              </a:defRPr>
            </a:pPr>
            <a:r>
              <a:t>Bill pull:</a:t>
            </a:r>
          </a:p>
          <a:p>
            <a:pPr algn="l">
              <a:spcAft>
                <a:spcPts val="400"/>
              </a:spcAft>
              <a:defRPr sz="1400">
                <a:solidFill>
                  <a:srgbClr val="F2F7FF"/>
                </a:solidFill>
                <a:latin typeface="Aptos"/>
              </a:defRPr>
            </a:pPr>
            <a:r>
              <a:t>"What I look at is the squiggly line on your bill. It tells me how much power you are pulling annually and lets me know if I can save you money. Do you get this online or paper?"</a:t>
            </a:r>
          </a:p>
        </p:txBody>
      </p:sp>
      <p:sp>
        <p:nvSpPr>
          <p:cNvPr id="9" name="TextBox 8"/>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Delivery checklist</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 [ ] Stand back from the door.</a:t>
            </a:r>
          </a:p>
          <a:p>
            <a:pPr algn="l">
              <a:spcAft>
                <a:spcPts val="400"/>
              </a:spcAft>
              <a:defRPr sz="1600">
                <a:solidFill>
                  <a:srgbClr val="F2F7FF"/>
                </a:solidFill>
                <a:latin typeface="Aptos"/>
              </a:defRPr>
            </a:pPr>
            <a:r>
              <a:t>• [ ] Speak at normal volume.</a:t>
            </a:r>
          </a:p>
          <a:p>
            <a:pPr algn="l">
              <a:spcAft>
                <a:spcPts val="400"/>
              </a:spcAft>
              <a:defRPr sz="1600">
                <a:solidFill>
                  <a:srgbClr val="F2F7FF"/>
                </a:solidFill>
                <a:latin typeface="Aptos"/>
              </a:defRPr>
            </a:pPr>
            <a:r>
              <a:t>• [ ] Use calm authority.</a:t>
            </a:r>
          </a:p>
          <a:p>
            <a:pPr algn="l">
              <a:spcAft>
                <a:spcPts val="400"/>
              </a:spcAft>
              <a:defRPr sz="1600">
                <a:solidFill>
                  <a:srgbClr val="F2F7FF"/>
                </a:solidFill>
                <a:latin typeface="Aptos"/>
              </a:defRPr>
            </a:pPr>
            <a:r>
              <a:t>• [ ] Point naturally at the local anchor.</a:t>
            </a:r>
          </a:p>
          <a:p>
            <a:pPr algn="l">
              <a:spcAft>
                <a:spcPts val="400"/>
              </a:spcAft>
              <a:defRPr sz="1600">
                <a:solidFill>
                  <a:srgbClr val="F2F7FF"/>
                </a:solidFill>
                <a:latin typeface="Aptos"/>
              </a:defRPr>
            </a:pPr>
            <a:r>
              <a:t>• [ ] Pause after questions.</a:t>
            </a:r>
          </a:p>
          <a:p>
            <a:pPr algn="l">
              <a:spcAft>
                <a:spcPts val="400"/>
              </a:spcAft>
              <a:defRPr sz="1600">
                <a:solidFill>
                  <a:srgbClr val="F2F7FF"/>
                </a:solidFill>
                <a:latin typeface="Aptos"/>
              </a:defRPr>
            </a:pPr>
            <a:r>
              <a:t>• [ ] Acknowledge homeowner responses.</a:t>
            </a:r>
          </a:p>
          <a:p>
            <a:pPr algn="l">
              <a:spcAft>
                <a:spcPts val="400"/>
              </a:spcAft>
              <a:defRPr sz="1600">
                <a:solidFill>
                  <a:srgbClr val="F2F7FF"/>
                </a:solidFill>
                <a:latin typeface="Aptos"/>
              </a:defRPr>
            </a:pPr>
            <a:r>
              <a:t>• [ ] Avoid technical language too early.</a:t>
            </a:r>
          </a:p>
          <a:p>
            <a:pPr algn="l">
              <a:spcAft>
                <a:spcPts val="400"/>
              </a:spcAft>
              <a:defRPr sz="1600">
                <a:solidFill>
                  <a:srgbClr val="F2F7FF"/>
                </a:solidFill>
                <a:latin typeface="Aptos"/>
              </a:defRPr>
            </a:pPr>
            <a:r>
              <a:t>• [ ] Ask the bill question with calm curiosity.</a:t>
            </a:r>
          </a:p>
          <a:p>
            <a:pPr algn="l">
              <a:spcAft>
                <a:spcPts val="400"/>
              </a:spcAft>
              <a:defRPr sz="1600">
                <a:solidFill>
                  <a:srgbClr val="F2F7FF"/>
                </a:solidFill>
                <a:latin typeface="Aptos"/>
              </a:defRPr>
            </a:pPr>
            <a:r>
              <a:t>• [ ] Explain the squiggly line as annual usage, not technical equipment.</a:t>
            </a:r>
          </a:p>
          <a:p>
            <a:pPr algn="l">
              <a:spcAft>
                <a:spcPts val="400"/>
              </a:spcAft>
              <a:defRPr sz="1600">
                <a:solidFill>
                  <a:srgbClr val="F2F7FF"/>
                </a:solidFill>
                <a:latin typeface="Aptos"/>
              </a:defRPr>
            </a:pPr>
            <a:r>
              <a:t>• [ ] Keep the door conversation focused on savings and net metering.</a:t>
            </a:r>
          </a:p>
          <a:p>
            <a:pPr algn="l">
              <a:spcAft>
                <a:spcPts val="400"/>
              </a:spcAft>
              <a:defRPr sz="1600">
                <a:solidFill>
                  <a:srgbClr val="F2F7FF"/>
                </a:solidFill>
                <a:latin typeface="Aptos"/>
              </a:defRPr>
            </a:pPr>
            <a:r>
              <a:t>• [ ] Use time-option closes for appointments.</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80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E6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640080"/>
            <a:ext cx="73152" cy="5303520"/>
          </a:xfrm>
          <a:prstGeom prst="rect">
            <a:avLst/>
          </a:prstGeom>
          <a:solidFill>
            <a:srgbClr val="2D4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75488"/>
            <a:ext cx="10241280" cy="822960"/>
          </a:xfrm>
          <a:prstGeom prst="rect">
            <a:avLst/>
          </a:prstGeom>
          <a:noFill/>
        </p:spPr>
        <p:txBody>
          <a:bodyPr wrap="none" anchor="t">
            <a:spAutoFit/>
          </a:bodyPr>
          <a:lstStyle/>
          <a:p>
            <a:pPr>
              <a:defRPr b="1" sz="2700">
                <a:solidFill>
                  <a:srgbClr val="F2F7FF"/>
                </a:solidFill>
                <a:latin typeface="Aptos Display"/>
              </a:defRPr>
            </a:pPr>
            <a:r>
              <a:t>21) Final Standard</a:t>
            </a:r>
          </a:p>
        </p:txBody>
      </p:sp>
      <p:sp>
        <p:nvSpPr>
          <p:cNvPr id="6" name="Rounded Rectangle 5"/>
          <p:cNvSpPr/>
          <p:nvPr/>
        </p:nvSpPr>
        <p:spPr>
          <a:xfrm>
            <a:off x="777240" y="1188720"/>
            <a:ext cx="10241280" cy="4773168"/>
          </a:xfrm>
          <a:prstGeom prst="roundRect">
            <a:avLst/>
          </a:prstGeom>
          <a:solidFill>
            <a:srgbClr val="13213A"/>
          </a:solidFill>
          <a:ln w="15875">
            <a:solidFill>
              <a:srgbClr val="2D4A7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444752"/>
            <a:ext cx="9692640" cy="4297680"/>
          </a:xfrm>
          <a:prstGeom prst="rect">
            <a:avLst/>
          </a:prstGeom>
          <a:noFill/>
        </p:spPr>
        <p:txBody>
          <a:bodyPr wrap="square" anchor="t">
            <a:spAutoFit/>
          </a:bodyPr>
          <a:lstStyle/>
          <a:p>
            <a:pPr algn="l">
              <a:spcAft>
                <a:spcPts val="400"/>
              </a:spcAft>
              <a:defRPr sz="1600">
                <a:solidFill>
                  <a:srgbClr val="F2F7FF"/>
                </a:solidFill>
                <a:latin typeface="Aptos"/>
              </a:defRPr>
            </a:pPr>
            <a:r>
              <a:t>The best appointment setters do not sound like they are repeating words. They sound like professionals who understand the homeowner, understand the problem, and know how to guide the next step.</a:t>
            </a:r>
          </a:p>
          <a:p>
            <a:pPr algn="l">
              <a:spcAft>
                <a:spcPts val="400"/>
              </a:spcAft>
            </a:pPr>
          </a:p>
          <a:p>
            <a:pPr algn="l">
              <a:spcAft>
                <a:spcPts val="400"/>
              </a:spcAft>
              <a:defRPr sz="1600">
                <a:solidFill>
                  <a:srgbClr val="F2F7FF"/>
                </a:solidFill>
                <a:latin typeface="Aptos"/>
              </a:defRPr>
            </a:pPr>
            <a:r>
              <a:t>Know the structure. Control your tone. Respect the homeowner's space. Speak clearly. Pause with confidence. Ask better questions.</a:t>
            </a:r>
          </a:p>
          <a:p>
            <a:pPr algn="l">
              <a:spcAft>
                <a:spcPts val="400"/>
              </a:spcAft>
            </a:pPr>
          </a:p>
          <a:p>
            <a:pPr algn="l">
              <a:spcAft>
                <a:spcPts val="400"/>
              </a:spcAft>
              <a:defRPr sz="1600">
                <a:solidFill>
                  <a:srgbClr val="F2F7FF"/>
                </a:solidFill>
                <a:latin typeface="Aptos"/>
              </a:defRPr>
            </a:pPr>
            <a:r>
              <a:t>That is how the pitch becomes natural, professional, and effective.</a:t>
            </a:r>
          </a:p>
        </p:txBody>
      </p:sp>
      <p:sp>
        <p:nvSpPr>
          <p:cNvPr id="8" name="TextBox 7"/>
          <p:cNvSpPr txBox="1"/>
          <p:nvPr/>
        </p:nvSpPr>
        <p:spPr>
          <a:xfrm>
            <a:off x="530352" y="6272784"/>
            <a:ext cx="11109960" cy="228600"/>
          </a:xfrm>
          <a:prstGeom prst="rect">
            <a:avLst/>
          </a:prstGeom>
          <a:noFill/>
        </p:spPr>
        <p:txBody>
          <a:bodyPr wrap="none">
            <a:spAutoFit/>
          </a:bodyPr>
          <a:lstStyle/>
          <a:p>
            <a:pPr algn="r">
              <a:defRPr sz="900">
                <a:solidFill>
                  <a:srgbClr val="A4B4D2"/>
                </a:solidFill>
                <a:latin typeface="Aptos"/>
              </a:defRPr>
            </a:pPr>
            <a:r>
              <a:t>Elite Appointment Setter Pitch Booklet  |  Slide 79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